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SAAI · 박람회 TF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-100" kern="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박람회를 핑계로 브랜딩을 끝내고, 브랜딩을 무기로 가맹사업 시장에 첫 깃발을 꽂는다.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2026.08.25 – 08.27 · COEX 프랜차이즈 창업박람회 · 내부 TF·경영진 공유본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45262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480060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브랜딩의 완성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9808" y="523036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셋을 하나의 약속으로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438912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45262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44568" y="480060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운영 플레이북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44568" y="523036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브랜드를 실행으로 번역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438912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45262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39328" y="480060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프랜차이즈 박람회 성공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9328" y="523036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플레이북의 실증·측정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TL;DR — 한 화면에 담은 박람회 TF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일회성 영업 행사가 아니라 브랜딩 revamp의 forcing function이자 Phase 2 투자의 첫 wave.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pPr algn="l" indent="0" marL="0">
              <a:buNone/>
            </a:pP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(3일 누계, 밴드 5–15)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09728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23444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pPr algn="l" indent="0" marL="0">
              <a:buNone/>
            </a:pP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56432" y="19659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lead (데모·굿즈 트리거, 밴드 100–300)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109728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23444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pPr algn="l" indent="0" marL="0">
              <a:buNone/>
            </a:pP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18504" y="19659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도입 검토 의향 (박람회 후 4주)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43416" y="109728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123444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pPr algn="l" indent="0" marL="0">
              <a:buNone/>
            </a:pP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80576" y="19659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SC 도입 검토 의향 (4주)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606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가맹사업 시장 첫 진입 — 본부 의사결정자·점주 후보가 3일간 한곳에 모이는 가장 큰 단일 윈도우.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5541264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7355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지금인가 — 다음 동급 기회까지 1년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3685032"/>
            <a:ext cx="513892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COEX 프랜차이즈 창업박람회는 본부·점주 후보가 3일간 한 자리에 모이는 단일 최대 윈도우.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셋(saai.store · StoreCare · StoreInsight)이 각자 브랜딩되어 와 한 부스에 두면 메시지 미성립.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박람회가 브랜딩 통합의 forcing function — 거기서 만든 자산은 Phase 2 brand 이니셔티브 출발점.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5943600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박람회 TF 킥오프 문서 · WHY 섹션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0488" y="3108960"/>
            <a:ext cx="5541264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327355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끝내고 나갈 것인가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91656" y="3685032"/>
            <a:ext cx="513892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 — 브랜딩 완성: 흩어진 제품 셋을 하나의 약속으로 정돈 (영구 자산).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 — 부스 운영 플레이북: 정돈된 브랜드를 부스·데모·굿즈·R&amp;R·lead 흐름으로 번역.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 — 박람회 KPI 측정: 본부 10건 · 점주 lead 200건 · 후속 도입 3·30건 + saai.store 신규 N건.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91656" y="5943600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기준은 슬라이드 5 정량 KPI 참조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Means-end chain의 정점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Mission은 한 문장. 그 아래에 3-layer가 따라온다.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2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박람회를 핑계로 브랜딩을 끝내고, 브랜딩을 무기로 가맹사업 시장에 첫 깃발을 꽂는다.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5541264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9923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가맹사업 시장 — 우리가 본격 진입한 적 없는 무대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410712"/>
            <a:ext cx="513892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COEX 박람회는 본부 의사결정자·점주 후보가 3일 동안 한곳에 모이는 가장 큰 단일 윈도우.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동급 기회까지 1년 — 타이밍이 곧 비용.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셋이 각자 브랜딩되어 와서, 한 부스에 같이 놓이면 메시지가 성립하지 않음.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5943600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WHY 섹션 — "왜 지금이 strategic moment인가"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0488" y="2834640"/>
            <a:ext cx="5541264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299923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= 영업 행사가 아니라 브랜딩의 forcing function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91656" y="3410712"/>
            <a:ext cx="513892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데드라인이 흩어진 브랜딩 작업을 한 점에 수렴시킴.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거기서 만든 자산(visual system · 메시지 · 부스·굿즈)은 Phase 2 brand 이니셔티브의 출발점.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일회성 비용이 아니라 투자의 첫 wave — 회계가 아닌 자본 관점으로 본다.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1656" y="5943600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 산출물 = 영구 자산, L2 = 실행, L3 = 측정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3-layer 구조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L1은 영구 자산, L2는 실행, L3는 측정. 셋이 분리되어야 결정이 명료해진다.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3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10771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 — 브랜딩의 완성  ·  영구 자산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10771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흩어진 제품 셋(saai.store · StoreCare · StoreInsight)을 하나의 약속으로 정돈. 그 자체로 영구 자산이며, Phase 2 brand 이니셔티브의 출발점.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65760" cy="36576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10771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 — 부스 운영 플레이북  ·  실행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154680"/>
            <a:ext cx="10771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정돈된 브랜드를 부스 디자인·데모 시나리오·굿즈·인력 R&amp;R·lead 흐름으로 번역. 한 묶음으로 실행 가능한 운영 자산.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365760" cy="36576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389120"/>
            <a:ext cx="10771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 — 프랜차이즈 박람회 성공  ·  측정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754880"/>
            <a:ext cx="10771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플레이북의 실증. 본부 미팅 10건 · 점주 lead 200건 · 후속 도입 3·30건으로 측정. KPI는 anchor + 밴드 형태(예: 본부 5–15, 점주 100–300).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정량 KPI (L3 measurement)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본부·점주·saai.store·후속 4축. 모두 박람회 후 4주 누계 기준.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4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pPr algn="l" indent="0" marL="0">
              <a:buNone/>
            </a:pPr>
            <a:r>
              <a:rPr lang="en-US" sz="16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· 3일 누계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09728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23444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56432" y="19659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lead · 데모·굿즈 트리거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109728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23444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18504" y="19659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본부 도입 검토 의향 · 4주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43416" y="109728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123444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80576" y="196596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점주 SC 도입 검토 의향 · 4주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112745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743200"/>
            <a:ext cx="10872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밴드 — anchor를 중심으로 한 허용 범위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80760" y="315468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– 15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721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lead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60520" y="3721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200건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80760" y="372160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 – 300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42885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saai.store 신규 구독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60520" y="42885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 (N)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80760" y="42885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기간 누계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07492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hierarchy: 본부 10건 (1차) · 점주 lead 200건 (2차) → 후속 도입 3·30건 (3차) · saai.store 신규 구독 N건 (보조).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— 행사 정보 + 이중 forcing function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데드라인 자체와 product-line branding revamp가 동시에 한 점에 수렴.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5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541264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8016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572768"/>
            <a:ext cx="5138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COEX 프랜차이즈 창업박람회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2026.08.25 (화) – 08.27 (목)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2606040"/>
            <a:ext cx="5138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pPr algn="l" indent="0" marL="0">
              <a:buNone/>
            </a:pPr>
            <a:r>
              <a:rPr lang="en-US" sz="2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일간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58368" y="3749040"/>
            <a:ext cx="5138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의사결정자·점주 후보가 한곳에 모이는 가장 큰 단일 윈도우. 다음 동급 기회까지 1년.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576072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WHAT 섹션 — "행사 정보"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0488" y="1097280"/>
            <a:ext cx="5541264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126187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이중 forcing function — 한 데드라인, 두 산출물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91656" y="1874520"/>
            <a:ext cx="5138928" cy="1188720"/>
          </a:xfrm>
          <a:prstGeom prst="roundRect">
            <a:avLst>
              <a:gd name="adj" fmla="val 6154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박람회 자체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4231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부스·데모·굿즈·인력·lead 흐름의 실행 데드라인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91656" y="3246120"/>
            <a:ext cx="5138928" cy="1188720"/>
          </a:xfrm>
          <a:prstGeom prst="roundRect">
            <a:avLst>
              <a:gd name="adj" fmla="val 6154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Product-line branding revamp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794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흩어진 제품 셋을 하나의 약속으로 통합 — Phase 2 출발점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91656" y="4617720"/>
            <a:ext cx="5138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산출물은 같은 인력·같은 데드라인에서 동시에 떨어진다.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91656" y="576072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WHAT 섹션 — "이중 forcing function"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— 타겟 방문객 &amp; 메시지 (B안 / D안)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본부와 점주 두 트랙을 분리. 부스 zoning + 인력 R&amp;R로 메시지 혼재 방지.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6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541264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6187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B안 · 본부 트랙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62763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가맹본부 사업개발·IT 담당자, 의사결정자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194560"/>
            <a:ext cx="36576" cy="1188720"/>
          </a:xfrm>
          <a:prstGeom prst="rect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9456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"점주가 매일 머무는 본부 — saai.store가 매일, StoreCare가 매장에서"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" y="356616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응대 방식 — 미팅 공간, 깊은 대화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4023360"/>
            <a:ext cx="5138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pPr algn="l" indent="0" marL="0">
              <a:buNone/>
            </a:pPr>
            <a:r>
              <a:rPr lang="en-US" sz="1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본부 미팅 anchor (밴드 5–15)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58368" y="576072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카피 final은 6/11 WS-0 visual system lock과 함께.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0488" y="1097280"/>
            <a:ext cx="5541264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26187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D안 · 점주 트랙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1656" y="162763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가맹점주, 예비 창업자 (편의점 비중 높음)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91656" y="2194560"/>
            <a:ext cx="36576" cy="1188720"/>
          </a:xfrm>
          <a:prstGeom prst="rect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219456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"매장의 매일을 함께 — saai.store가 알려주고, StoreCare가 챙깁니다"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91656" y="356616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응대 방식 — saai.store 구독, 빠른 데모, 즉석 lead 캡처, 굿즈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91656" y="4023360"/>
            <a:ext cx="5138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pPr algn="l" indent="0" marL="0">
              <a:buNone/>
            </a:pPr>
            <a:r>
              <a:rPr lang="en-US" sz="1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점주 lead anchor (밴드 100–300)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391656" y="576072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편의점 비중이 높은 점은 saai.store 구독 entry에 강점.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— 제품 라인업과 박람회 노출 형태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saai.store는 점주 entry, StoreCare는 양쪽 모두, StoreInsight는 본부 자료 위주.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7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127455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98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23560" y="12984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노출 형태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1755648"/>
            <a:ext cx="10908792" cy="10973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920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saai.store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19202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1B5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06240" y="2304288"/>
            <a:ext cx="640080" cy="329184"/>
          </a:xfrm>
          <a:prstGeom prst="roundRect">
            <a:avLst>
              <a:gd name="adj" fmla="val 11111"/>
            </a:avLst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3042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19202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walk-in 메인 entry — 뉴스레터 구독 + 굿즈 + 점주 lead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3127248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2461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StoreCare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88920" y="3630168"/>
            <a:ext cx="640080" cy="329184"/>
          </a:xfrm>
          <a:prstGeom prst="roundRect">
            <a:avLst>
              <a:gd name="adj" fmla="val 11111"/>
            </a:avLst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36301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3630168"/>
            <a:ext cx="640080" cy="329184"/>
          </a:xfrm>
          <a:prstGeom prst="roundRect">
            <a:avLst>
              <a:gd name="adj" fmla="val 11111"/>
            </a:avLst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36301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32461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깊은 데모 + 점주에겐 "본부 도입 시 이런 가치" 노출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4453128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572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StoreInsight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88920" y="4956048"/>
            <a:ext cx="640080" cy="329184"/>
          </a:xfrm>
          <a:prstGeom prst="roundRect">
            <a:avLst>
              <a:gd name="adj" fmla="val 11111"/>
            </a:avLst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4956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0" y="45720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1B5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23560" y="45720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자료 + 부스 한쪽 패널 (B2B 브랜딩 박람회용 v1까지)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" y="58521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WHAT 섹션 — "제품 라인업"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— Future 라인 노출 여부 (결정 필요)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main lineup 4개에 동등 포함, 점주 트랙·점주 zone에는 미반영.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8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54126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6187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트랙 — Future 포함 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673352"/>
            <a:ext cx="5138928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자료에 동등 노출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본부 zone panel에 동등 노출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StoreCare · StoreInsight · StoreAgent와 한 묶음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0488" y="1097280"/>
            <a:ext cx="554126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26187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트랙 — Future 미반영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91656" y="1673352"/>
            <a:ext cx="5138928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트랙에 미반영 — 메시지 통합 우선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점주 zone에도 미반영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점주는 saai.store · StoreCare 두 축에 집중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1274552" cy="2011680"/>
          </a:xfrm>
          <a:prstGeom prst="roundRect">
            <a:avLst>
              <a:gd name="adj" fmla="val 3636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97680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297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필요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4617720"/>
            <a:ext cx="10872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 정확한 제품명 · timing · noise level 확정 필요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8368" y="516636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소유자: TF Lead · 안건: 발족 회의 25–50'  ·  영향 받는 WS: 본부 미팅 자료, 부스 본부 zone, 후속 영업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562356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결정은 D-90 발족 회의에서 lock.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조직도 (핵심 4 + 1)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 1, Brand Lead 1, 디자이너 2, PR 인터페이스 1.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9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5860" y="1371600"/>
            <a:ext cx="731520" cy="73152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58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(미할당)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governance + WS-3 데모 주도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52344" y="114300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1004" y="1371600"/>
            <a:ext cx="731520" cy="731520"/>
          </a:xfrm>
          <a:prstGeom prst="ellipse">
            <a:avLst/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1004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89504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Lead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9504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(미할당)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9504" y="29260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WS-0 브랜딩 — 마스터 visual + 메시지 카피 final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47488" y="114300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56148" y="1371600"/>
            <a:ext cx="731520" cy="731520"/>
          </a:xfrm>
          <a:prstGeom prst="ellipse">
            <a:avLst/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56148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84648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 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84648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(미할당)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84648" y="29260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WS-1 부스 디자인 / WS-4 굿즈·인쇄물 중 진행하며 분배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42632" y="114300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51292" y="1371600"/>
            <a:ext cx="731520" cy="731520"/>
          </a:xfrm>
          <a:prstGeom prst="ellipse">
            <a:avLst/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51292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79792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 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79792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(미할당)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79792" y="29260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WS-1 / WS-4 중 진행하며 분배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37776" y="114300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46436" y="1371600"/>
            <a:ext cx="731520" cy="731520"/>
          </a:xfrm>
          <a:prstGeom prst="ellipse">
            <a:avLst/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46436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774936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인터페이스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74936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(미할당)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774936" y="29260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WS-2 부스 시공 — PR 대행사 커뮤니케이션, 6월 초 투입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251960"/>
            <a:ext cx="1127455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370832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 단독 결정 가능 항목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8368" y="475488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 미세 조정 (마일스톤 내)  ·  Cadence tuning  ·  외주 업체 직접 컨택  ·  Slack 의제 추가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8368" y="521208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빠뜨리고 진행 금지: 인선  ·  예산 재배분  ·  메시지 final  ·  KPI 변경  ·  Escalation 항목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8368" y="5715000"/>
            <a:ext cx="10872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WHO 섹션 — 조직도 + Charter 회의체 권위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추가 영입 필요 + 외부 협력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 발족까지 4명 영입 + PR 대행사 1곳.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10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34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123444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234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D-90까지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155448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Product/Engineering co-owner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" y="205740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환경·시나리오 기술 세부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10972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1234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23444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234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D-90까지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25112" y="155448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 · CRM 오너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25112" y="205740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캡처 폼·CRM 태깅 룰·후속 영업 핸드오프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2461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운영 오너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" y="374904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시간대별 배치·응대 스크립트·비상 대응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0520" y="27889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25112" y="32461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사후 영업 오너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325112" y="374904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분기 + 점주 분기 nurturing 흐름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09560" y="1097280"/>
            <a:ext cx="382219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1261872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협력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10728" y="1673352"/>
            <a:ext cx="3419856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대행사 — WS-2 부스 시공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인터페이스: PR 인터페이스 담당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투입 시점: 6월 초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범위: 부스 시공 + 현장 운영 지원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11274552" cy="1600200"/>
          </a:xfrm>
          <a:prstGeom prst="roundRect">
            <a:avLst>
              <a:gd name="adj" fmla="val 4571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663440"/>
            <a:ext cx="10872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4 + 1</a:t>
            </a:r>
            <a:pPr algn="l" indent="0" marL="0">
              <a:buNone/>
            </a:pPr>
            <a:r>
              <a:rPr lang="en-US" sz="2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  </a:t>
            </a:r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+ 4명 영입</a:t>
            </a:r>
            <a:pPr algn="l" indent="0" marL="0">
              <a:buNone/>
            </a:pPr>
            <a:r>
              <a:rPr lang="en-US" sz="2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  </a:t>
            </a:r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 발족 시 9명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Charter v0  ·  TF 단독 결정 범위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운영·실행 결정 전부. 합계 1,100만원 한도 내 항목 간 재배분 자유.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11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5412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476756"/>
            <a:ext cx="292608" cy="29260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767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20700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집행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157276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 1,100만원 한도 내 · 항목 간 재배분 자유 · 합계 초과만 escalation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0488" y="1097280"/>
            <a:ext cx="55412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476756"/>
            <a:ext cx="292608" cy="29260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4767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57416" y="120700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디자인·시공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57416" y="157276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시안 채택 · 외주 업체 선정 · 시공 일정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55412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2665476"/>
            <a:ext cx="292608" cy="29260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239572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 카피·visual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4128" y="276148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WS-0 원칙(B / D안) 안에서 카피·톤 final, visual 채택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2286000"/>
            <a:ext cx="55412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2665476"/>
            <a:ext cx="292608" cy="29260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57416" y="239572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시나리오·백업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57416" y="276148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순서 · 백업 녹화본 사용 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55412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3854196"/>
            <a:ext cx="292608" cy="29260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8541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" y="358444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굿즈·인쇄물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24128" y="395020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· 수량 · 인쇄물 디자인 · 발주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90488" y="3474720"/>
            <a:ext cx="55412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3854196"/>
            <a:ext cx="292608" cy="29260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8541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57416" y="358444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 캡처·CRM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57416" y="395020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캡처 폼 · CRM 태깅 룰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663440"/>
            <a:ext cx="55412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" y="5042916"/>
            <a:ext cx="292608" cy="29260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5042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24128" y="477316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R&amp;R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24128" y="513892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시간대별 배치 · 응대 스크립트 · 비상 대응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90488" y="4663440"/>
            <a:ext cx="55412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5042916"/>
            <a:ext cx="292608" cy="29260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5042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57416" y="477316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follow-up 영업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757416" y="513892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분기 + 점주 분기 nurturing 흐름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58978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TF 회의 결정 = 모든 오너에게 binding. 회의 불참 시 사후 lock 인정.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Escalation 트리거  ·  CEO 합의 필요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 — D-91까지 회사 governance 보고와 정합 tuning 필요.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12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54126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261872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61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216152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합계 초과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" y="16459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1,100만원 한도 넘는 모든 지출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0488" y="1097280"/>
            <a:ext cx="554126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261872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261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96328" y="1216152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마스터 브랜드와 충돌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16459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WS-0 결과물이 기존 회사 브랜드 가이드와 충돌 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554126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2679192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6791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2633472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Strategic 결정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" y="30632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 라인 노출 · 신제품 first reveal · 가격 정책 공개 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2514600"/>
            <a:ext cx="554126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2679192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6791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96328" y="2633472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하향 조정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5080" y="30632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합의된 anchor (10/200/3/30 + N) 하향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554126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4096512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096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63040" y="4050792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발표·제휴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1792" y="44805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박람회에서 제휴사·고객사 사례 공개 시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90488" y="3931920"/>
            <a:ext cx="554126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4096512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4096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96328" y="4050792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인선 갈등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55080" y="44805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오너 인선이 다른 팀 우선순위와 충돌 시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98348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" y="51663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51663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508760" y="5120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 — D-91까지 회사 governance 보고와 정합 tuning 필요. 이후 lock.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종료 조건 + 회의체 권위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종료 조건 모두 만족 시 TF 해산. 예상 종료: D+14 ~ D+21 (9/10 ~ 9/17).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13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7157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3916" y="1280160"/>
            <a:ext cx="402336" cy="402336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13916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D+7 (9/3) 회고 회의 완료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결과 · 정성 회고 · 운영 회고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9272" y="1097280"/>
            <a:ext cx="27157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5988" y="1280160"/>
            <a:ext cx="402336" cy="402336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5988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178308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 follow-up 운영 이관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56432" y="2286000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lead → 영업팀, 점주 lead → saai.store nurturing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1097280"/>
            <a:ext cx="27157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8060" y="1280160"/>
            <a:ext cx="402336" cy="402336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8060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18504" y="178308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brand 이니셔티브 kickoff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18504" y="2286000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WS-0 자산 인계 + kickoff doc 전달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43416" y="1097280"/>
            <a:ext cx="27157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00132" y="1280160"/>
            <a:ext cx="402336" cy="402336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0013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80576" y="178308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회고 doc 발행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80576" y="2286000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페이지 마지막 섹션으로 추가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154680"/>
            <a:ext cx="11274552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319272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회의체 권위 — 모든 결정은 한 곳에 기록된다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" y="3730752"/>
            <a:ext cx="108722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TF 회의 결정 = 모든 오너에게 binding. 회의 불참 시 사후 lock 인정.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결정 = 📋 DB 「결정」 row. 결정자 · 근거 · 반대 의견 · 영향 받는 WS 명시.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외 결정 (Slack · 1:1): 결정자가 24h 내 row 추가, 다음 회의에서 ack.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 단독 결정 가능: 일정 미세 조정 · Cadence tuning · 외주 업체 직접 컨택.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빠뜨리고 진행 금지: 인선 · 예산 재배분 · 메시지 final · KPI 변경 · Escalation 항목.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" y="5852160"/>
            <a:ext cx="10872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Charter v0 — 회의체 권위 + 종료 조건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주간 회의 cadence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수요일 11:00 – 12:00 (60분). 월 셋업·금 wrap-up을 피한 중간 점검.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14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74552" cy="502920"/>
          </a:xfrm>
          <a:prstGeom prst="roundRect">
            <a:avLst>
              <a:gd name="adj" fmla="val 7273"/>
            </a:avLst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2240280"/>
            <a:ext cx="902970" cy="411480"/>
          </a:xfrm>
          <a:prstGeom prst="rect">
            <a:avLst/>
          </a:prstGeom>
          <a:solidFill>
            <a:srgbClr val="D9DBDD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240280"/>
            <a:ext cx="902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15034" y="2240280"/>
            <a:ext cx="3721608" cy="411480"/>
          </a:xfrm>
          <a:prstGeom prst="rect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5034" y="2240280"/>
            <a:ext cx="3721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73218" y="2240280"/>
            <a:ext cx="3721608" cy="411480"/>
          </a:xfrm>
          <a:prstGeom prst="rect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3218" y="2240280"/>
            <a:ext cx="3721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20'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31402" y="2240280"/>
            <a:ext cx="1842516" cy="411480"/>
          </a:xfrm>
          <a:prstGeom prst="rect">
            <a:avLst/>
          </a:prstGeom>
          <a:solidFill>
            <a:srgbClr val="D9DBDD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31402" y="2240280"/>
            <a:ext cx="18425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10'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10494" y="2240280"/>
            <a:ext cx="902970" cy="411480"/>
          </a:xfrm>
          <a:prstGeom prst="rect">
            <a:avLst/>
          </a:prstGeom>
          <a:solidFill>
            <a:srgbClr val="D9DBDD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10494" y="2240280"/>
            <a:ext cx="902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761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0'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274552" y="2761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타임라인 — 60분 회의를 5단계로 나눈다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1554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HOW 섹션 — "운영 Cadence v0 → 주간 회의 포맷"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2148840" cy="26974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387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pPr algn="ctr" indent="0" marL="0">
              <a:buNone/>
            </a:pPr>
            <a:r>
              <a:rPr lang="en-US" sz="1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94360" y="434340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 주 결정 review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52344" y="3337560"/>
            <a:ext cx="2148840" cy="26974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9504" y="35387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pPr algn="ctr" indent="0" marL="0">
              <a:buNone/>
            </a:pPr>
            <a:r>
              <a:rPr lang="en-US" sz="1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889504" y="434340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워크스트림별 진척 라운드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47488" y="3337560"/>
            <a:ext cx="2148840" cy="26974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35387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pPr algn="ctr" indent="0" marL="0">
              <a:buNone/>
            </a:pPr>
            <a:r>
              <a:rPr lang="en-US" sz="1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5184648" y="434340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Blocker 해결 + 결정 사항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42632" y="3337560"/>
            <a:ext cx="2148840" cy="26974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9792" y="35387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pPr algn="ctr" indent="0" marL="0">
              <a:buNone/>
            </a:pPr>
            <a:r>
              <a:rPr lang="en-US" sz="1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479792" y="434340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다가올 마일스톤 점검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637776" y="3337560"/>
            <a:ext cx="2148840" cy="26974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74936" y="35387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pPr algn="ctr" indent="0" marL="0">
              <a:buNone/>
            </a:pPr>
            <a:r>
              <a:rPr lang="en-US" sz="1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9774936" y="434340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약속 lock + 결정 기록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마일스톤 리뷰 + 일일 Slack 체크인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4번의 마일스톤 리뷰는 주간 회의를 대체. Slack은 blocker 24h surfacing 채널.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15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8580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61872"/>
            <a:ext cx="645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마일스톤 리뷰 (4회 · 각 90–120분 · 전 TF + 필요 시 CEO)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0116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194560"/>
            <a:ext cx="13716" cy="667512"/>
          </a:xfrm>
          <a:prstGeom prst="rect">
            <a:avLst/>
          </a:prstGeom>
          <a:solidFill>
            <a:srgbClr val="D9DBDD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8288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18288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6/11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system v1 demo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240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채택 결정 → WS-1·4 시작 OK 사인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044952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3227832"/>
            <a:ext cx="13716" cy="667512"/>
          </a:xfrm>
          <a:prstGeom prst="rect">
            <a:avLst/>
          </a:prstGeom>
          <a:solidFill>
            <a:srgbClr val="D9DBDD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8620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D-60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28620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6/26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2862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디자인 mockup + 데모 시나리오 v1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2735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walkthrough → 채택/수정 결정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078224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976" y="4261104"/>
            <a:ext cx="13716" cy="667512"/>
          </a:xfrm>
          <a:prstGeom prst="rect">
            <a:avLst/>
          </a:prstGeom>
          <a:solidFill>
            <a:srgbClr val="D9DBDD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8953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D-32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38953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7/24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38953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final dry run + lead 캡처 E2E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3068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인쇄물 시안 final → 발주 결정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5111496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286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011680" y="49286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8/18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83464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사전 점검 + full dry run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53400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 / no-go 결정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0" y="1097280"/>
            <a:ext cx="4233672" cy="502920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1261872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Slack 체크인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99248" y="1673352"/>
            <a:ext cx="3831336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 — #tf-박람회 (신규)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시점 — 매일 오전 10시까지 자율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포맷 — 어제 done · 오늘 약속 · blocker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— blocker는 24h 내 surface (@TF Lead)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외 — 자율 (over-communication 피함)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99248" y="5852160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HOW 섹션 — 일일 Slack 체크인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결정 기록 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결정은 📋 DB 「결정」 row에 남는다. 회의 외 결정도 24h 내 등록.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16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 started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441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중 — 옵션이 아직 떠 있는 상태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57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319272" y="128016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56432" y="18288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 progress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56432" y="2331720"/>
            <a:ext cx="2441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정리 중 — 결정자/근거/반대 정리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057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181344" y="128016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18504" y="18288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18504" y="2331720"/>
            <a:ext cx="2441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Lock — 결정자 · 근거 · 반대 의견 명시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97112" y="2057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043416" y="128016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0576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80576" y="18288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시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80576" y="2331720"/>
            <a:ext cx="2441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row 생성 — 이전 row는 Done 유지 + 새 row 링크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112745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88620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row 필수 필드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12848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명 — TF Lead 또는 WS 오너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44768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99248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결정인가 (데이터·constraint·trade-off)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" y="5029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반대 의견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12848" y="5029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중 제기된 반대 — 의도적으로 기록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44768" y="5029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 받는 WS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99248" y="5029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WS-0 ~ WS-7 중 해당 항목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8368" y="5760720"/>
            <a:ext cx="10872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외 결정 (Slack · 1:1): 결정자가 24h 내 row 추가 → 다음 회의에서 ack.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예산  ·  Lean tier · 합계 800–1,100만원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간 재배분 자유 (예: 부스 시공 절감 → 굿즈 증액). 합계 초과만 escalation.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17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127455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53312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항목별 예산 밴드 — 막대는 low–high 범위, 점은 mid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84448" y="1874520"/>
            <a:ext cx="4572" cy="310896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4983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9452" y="1874520"/>
            <a:ext cx="4572" cy="310896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5132" y="4983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34456" y="1874520"/>
            <a:ext cx="4572" cy="310896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0136" y="4983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09460" y="1874520"/>
            <a:ext cx="4572" cy="310896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5140" y="4983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84464" y="1874520"/>
            <a:ext cx="4572" cy="310896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10144" y="4983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59468" y="1874520"/>
            <a:ext cx="4572" cy="310896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5148" y="4983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634472" y="1874520"/>
            <a:ext cx="4572" cy="310896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60152" y="4983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74552" y="4983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09460" y="1920240"/>
            <a:ext cx="45720" cy="274320"/>
          </a:xfrm>
          <a:prstGeom prst="roundRect">
            <a:avLst>
              <a:gd name="adj" fmla="val 40000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090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시공 (조립식)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34456" y="2514600"/>
            <a:ext cx="3525012" cy="274320"/>
          </a:xfrm>
          <a:prstGeom prst="roundRect">
            <a:avLst>
              <a:gd name="adj" fmla="val 6667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5188" y="2468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200–500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가구·전기·모니터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71950" y="3108960"/>
            <a:ext cx="1175004" cy="274320"/>
          </a:xfrm>
          <a:prstGeom prst="roundRect">
            <a:avLst>
              <a:gd name="adj" fmla="val 6667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2674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50–150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" y="3611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굿즈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9452" y="3703320"/>
            <a:ext cx="4700016" cy="274320"/>
          </a:xfrm>
          <a:prstGeom prst="roundRect">
            <a:avLst>
              <a:gd name="adj" fmla="val 6667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5188" y="3657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100–500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인쇄물 (배너·리플렛·QR)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171950" y="4297680"/>
            <a:ext cx="1175004" cy="274320"/>
          </a:xfrm>
          <a:prstGeom prst="roundRect">
            <a:avLst>
              <a:gd name="adj" fmla="val 6667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2674" y="4251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50–150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55778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  </a:t>
            </a:r>
            <a:pPr algn="l" indent="0" marL="0">
              <a:buNone/>
            </a:pPr>
            <a:r>
              <a:rPr lang="en-US" sz="2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800 – 1,100</a:t>
            </a:r>
            <a:pPr algn="l" indent="0" marL="0">
              <a:buNone/>
            </a:pPr>
            <a:r>
              <a:rPr lang="en-US" sz="16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만원</a:t>
            </a:r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· Lean tier · 항목 간 재배분 자유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리스크 + Mitigation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핵심 리스크 — 각 mitigation 실행은 📋 Tasks DB의 「Mitigation」 row에서 추적.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18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621024" cy="50292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29844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984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98064" y="129844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69164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안정성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" y="23774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697480"/>
            <a:ext cx="3218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시연 실패시 인상 마이너스 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402336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343400"/>
            <a:ext cx="3218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백업 시나리오 · 녹화본 필수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📋 Tasks DB에서 「Mitigation」 row 추적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61104" y="1097280"/>
            <a:ext cx="3621024" cy="50292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62272" y="129844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12984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01968" y="129844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WS-1 · WS-6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2272" y="169164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 혼재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462272" y="23774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62272" y="2697480"/>
            <a:ext cx="3218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본부/점주 트랙 분리 안 되면 둘 다 약화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62272" y="402336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62272" y="4343400"/>
            <a:ext cx="3218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zoning + 인력 R&amp;R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62272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📋 Tasks DB에서 「Mitigation」 row 추적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65008" y="1097280"/>
            <a:ext cx="3621024" cy="50292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66176" y="129844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6176" y="12984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05872" y="129844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WS-5 · WS-7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66176" y="169164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 leak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66176" y="23774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66176" y="2697480"/>
            <a:ext cx="3218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영업 흐름 미정시 수집 lead 사장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66176" y="402336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66176" y="4343400"/>
            <a:ext cx="3218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WS-5 · WS-7 사전 확정 필수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66176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📋 Tasks DB에서 「Mitigation」 row 추적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 — Action Tracker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 발족 회의에서 lock해야 하는 항목들. 이 페이지가 회고 doc의 출발점이 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 문서 · 2026-05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19 / 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1274552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98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2984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1755648"/>
            <a:ext cx="10908792" cy="10973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874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WS-3 / WS-5 / WS-6 / WS-7 오너 영입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0" y="18745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 발족 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247802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 + CEO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55117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Charter v0 → v1 lock (Escalation 트리거 정합)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0" y="25511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3154680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2278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32278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 라인 정확한 제품명 · timing · noise level 확정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0" y="32278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발족 회의 25–50'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" y="3831336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9044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Lead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390448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WS-0 visual system v1 demo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39044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D-75 (6/11)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" y="4507992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58114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 1 · 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458114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디자인 mockup + 데모 시나리오 v1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0" y="45811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D-60 (6/26)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" y="5184648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5257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인터페이스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37560" y="52578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대행사 contracting + WS-2 킥오프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0" y="52578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6월 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박람회 TF 킥오프</dc:title>
  <dc:subject>PptxGenJS Presentation</dc:subject>
  <dc:creator>SAAI</dc:creator>
  <cp:lastModifiedBy>SAAI</cp:lastModifiedBy>
  <cp:revision>1</cp:revision>
  <dcterms:created xsi:type="dcterms:W3CDTF">2026-05-11T10:06:27Z</dcterms:created>
  <dcterms:modified xsi:type="dcterms:W3CDTF">2026-05-11T10:06:27Z</dcterms:modified>
</cp:coreProperties>
</file>