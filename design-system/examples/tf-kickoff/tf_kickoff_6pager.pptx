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2402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SAAI · 박람회 TF · 6-pager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00" kern="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킥오프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박람회를 핑계로 브랜딩을 끝내고, 브랜딩을 무기로 가맹사업 시장에 첫 깃발을 꽂는다.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2026.08.25 – 08.27 · COEX 프랜차이즈 창업박람회 · 내부 TF·경영진 6-pager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4348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2688" y="44348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Summary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21992" y="4434840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21992" y="44348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06040" y="44348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Tenets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95344" y="4434840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95344" y="44348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79392" y="44348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 State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68696" y="4434840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68696" y="44348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52744" y="44348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Working Backwards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42048" y="4434840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42048" y="44348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626096" y="44348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15400" y="4434840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15400" y="44348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299448" y="44348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Risks · Budget · Measurement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588752" y="4434840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88752" y="44348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0" y="44348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Termination + FAQ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1  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화면에 담은 박람회 TF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silent reading 60초 · 의사결정 회의 진입용 1-pager.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71576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25880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pPr algn="l" indent="0" marL="0">
              <a:buNone/>
            </a:pP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94360" y="205740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미팅 · 3일 누계 (5–15)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9272" y="1188720"/>
            <a:ext cx="271576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1325880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</a:t>
            </a:r>
            <a:pPr algn="l" indent="0" marL="0">
              <a:buNone/>
            </a:pP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56432" y="205740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점주 lead · 데모·굿즈 트리거 (100–300)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1188720"/>
            <a:ext cx="271576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8504" y="1325880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pPr algn="l" indent="0" marL="0">
              <a:buNone/>
            </a:pP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318504" y="205740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본부 도입 검토 · D+28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43416" y="1188720"/>
            <a:ext cx="271576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0576" y="1325880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</a:t>
            </a:r>
            <a:pPr algn="l" indent="0" marL="0">
              <a:buNone/>
            </a:pP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180576" y="205740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점주 SC 검토 · D+28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651760"/>
            <a:ext cx="11274552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816352"/>
            <a:ext cx="10872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TF는 2026년 8월 25–27일 COEX 프랜차이즈 창업박람회를 강제 데드라인으로 삼아, 흩어진 SAAI 제품 셋(saai.store · StoreCare · StoreInsight, 그리고 Future 라인)을 하나의 약속으로 통합한 뒤 이를 무기로 가맹사업 시장에 첫 진입한다.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" y="3840480"/>
            <a:ext cx="10872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진짜 산출물은 박람회 KPI가 아니다. </a:t>
            </a:r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박람회를 마친 뒤 손에 남는 마스터 visual system + 제품 라인업 메시지 + 부스 운영 플레이북</a:t>
            </a:r>
            <a:pPr algn="l" indent="0" marL="0">
              <a:buNone/>
            </a:pPr>
            <a:r>
              <a:rPr lang="en-US" sz="14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이며, 이 자산은 Phase 2 brand 이니셔티브의 출발점이 된다. 박람회는 그 자산을 강제로 끝내게 만드는 forcing function이다.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" y="5074920"/>
            <a:ext cx="10872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예산은 Lean tier (합계 800–1,100만원). 핵심 인원 5명에 4명을 D-90(2026-05-27)까지 추가 영입하여 9명 체제로 발족.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2   TENETS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의사결정 원칙 — TF의 prior commitment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모든 결정·트레이드오프는 이 7개 원칙으로 거슬러 올라가면 설명된다.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2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71576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353312"/>
            <a:ext cx="384048" cy="38404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1353312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L1 &gt; L3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1828800"/>
            <a:ext cx="2313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영구 자산(visual·메시지·플레이북)이 박람회 KPI 한 칸보다 무겁다.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19272" y="1188720"/>
            <a:ext cx="271576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83864" y="1353312"/>
            <a:ext cx="384048" cy="38404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83864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77640" y="1353312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lead 질 &gt; lead 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20440" y="1828800"/>
            <a:ext cx="2313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업계 평균 80% lead가 사장된다(CEIR). 후속 nurturing 한계 내에서 캡처한다.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1344" y="1188720"/>
            <a:ext cx="271576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45936" y="1353312"/>
            <a:ext cx="384048" cy="38404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5936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39712" y="1353312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조용한 데모 &gt; 화려한 데모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82512" y="1828800"/>
            <a:ext cx="2313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 시연 실패의 마이너스 &gt; 임팩트 업사이드. 백업 녹화본 디폴트.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43416" y="1188720"/>
            <a:ext cx="271576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08008" y="1353312"/>
            <a:ext cx="384048" cy="38404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08008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701784" y="1353312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 zoning이 메시지를 보호한다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44584" y="1828800"/>
            <a:ext cx="2313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zone + 점주 zone 분리. 시간대별 R&amp;R로 응대 혼재 방지.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520440"/>
            <a:ext cx="271576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" y="3685032"/>
            <a:ext cx="384048" cy="38404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15568" y="3685032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결정은 row로만 산다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8368" y="4160520"/>
            <a:ext cx="2313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회의·Slack·1:1 어디서든 24h 내 「결정」 DB row. row 없으면 결정 아님.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19272" y="3520440"/>
            <a:ext cx="271576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83864" y="3685032"/>
            <a:ext cx="384048" cy="38404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83864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977640" y="3685032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24h 안에 follow-up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520440" y="4160520"/>
            <a:ext cx="2313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24h contact = 7x 전환률 (48h = 3x). 폐회 후 두 분기 자동 라우팅.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81344" y="3520440"/>
            <a:ext cx="271576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45936" y="3685032"/>
            <a:ext cx="384048" cy="38404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45936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39712" y="3685032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청중, 두 funnel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382512" y="4160520"/>
            <a:ext cx="2313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점주는 saai.store 구독으로 entry, 본부는 미팅으로 conversion.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043416" y="3520440"/>
            <a:ext cx="2715768" cy="2194560"/>
          </a:xfrm>
          <a:prstGeom prst="roundRect">
            <a:avLst>
              <a:gd name="adj" fmla="val 3333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44584" y="368503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법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244584" y="4023360"/>
            <a:ext cx="2313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페이지의 모든 결정·리스크·예산은 위 7개 Tenet으로 추적된다. 본문에서 "Tenet 2가 디자인 가이드"처럼 명시.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244584" y="5394960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§2 Tenets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3   CURRENT STATE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 프랜차이즈 산업의 현재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9,960개라는 단일 의사결정자 풀 — 정체기를 빠져나오는 신호 (2024 실적, 2025 발표).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3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715768" cy="283464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23500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9,960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2350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가맹본부 (개)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전년 대비 +13.2%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19272" y="1188720"/>
            <a:ext cx="2715768" cy="283464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1463040"/>
            <a:ext cx="23500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13,725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502152" y="2743200"/>
            <a:ext cx="2350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브랜드 (개)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02152" y="3703320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외식업 10,886 (79%)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81344" y="1188720"/>
            <a:ext cx="2715768" cy="283464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1463040"/>
            <a:ext cx="23500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38만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364224" y="2743200"/>
            <a:ext cx="2350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전국 가맹점 (개)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64224" y="3703320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매출 3.7억 (+4.3%)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43416" y="1188720"/>
            <a:ext cx="2715768" cy="283464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26296" y="1463040"/>
            <a:ext cx="23500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00" kern="0" dirty="0">
                <a:solidFill>
                  <a:srgbClr val="0E8C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+13.2%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9226296" y="2743200"/>
            <a:ext cx="2350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수 전년 대비 증감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26296" y="3703320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정체기를 빠져나오는 신호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1127455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370832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시장이 박람회 TF에게 갖는 의미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" y="4782312"/>
            <a:ext cx="108722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9,960개는 우리가 새로 진입하는 시장의 단일 의사결정자 풀이다. 가맹점 38만개는 그 풀이 만들어내는 매장 운영의 총량이다.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수 증가율 +13.2%는 시장이 정체기를 빠져나오고 있다는 신호. "잘 하고 있을 때 다음 시장을 연다"는 명제가 지금 적용된다.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외식업이 브랜드의 79%·가맹점의 약 절반을 차지 — 점주 트랙(D안) 응대 비중이 큰 이유이기도 하다.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" y="5852160"/>
            <a:ext cx="10872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2024년 가맹사업 현황 통계 (서울시·KOSIS·한국경제 종합)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3   CURRENT STATE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박람회는 우리에게 어떤 윈도우인가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의사결정자·점주 후보가 3일간 모이는 최대 단일 윈도우 · 다음 동급 기회까지 1년.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4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5541264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53312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우리가 참가하는 회차 — COEX 8월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1691640"/>
            <a:ext cx="5138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pPr algn="l" indent="0" marL="0">
              <a:buNone/>
            </a:pPr>
            <a:r>
              <a:rPr lang="en-US" sz="22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</a:t>
            </a:r>
            <a:pPr algn="l" indent="0" marL="0">
              <a:buNone/>
            </a:pPr>
            <a:r>
              <a:rPr lang="en-US" sz="16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2026.08.25 – 08.27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58368" y="2834640"/>
            <a:ext cx="5138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COEX Hall · 월드전람 주최 · 가맹본부와 점주 후보가 한곳에 모임.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0488" y="1188720"/>
            <a:ext cx="5541264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1656" y="1353312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의사결정자 풀이 모이는 IFS 규모 (벤치마크)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91656" y="1691640"/>
            <a:ext cx="5138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50,000</a:t>
            </a:r>
            <a:pPr algn="l" indent="0" marL="0">
              <a:buNone/>
            </a:pPr>
            <a:r>
              <a:rPr lang="en-US" sz="22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</a:t>
            </a:r>
            <a:pPr algn="l" indent="0" marL="0">
              <a:buNone/>
            </a:pPr>
            <a:r>
              <a:rPr lang="en-US" sz="13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회당 예상 방문객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391656" y="2514600"/>
            <a:ext cx="5138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RX Korea 주최 IFS는 누적 54+ 회차, 30,000+ 누적 방문객. Asia No.1 자칭. 우리 8월 회차는 그보다 작지만 같은 의사결정자 풀을 공유.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11274552" cy="2103120"/>
          </a:xfrm>
          <a:prstGeom prst="roundRect">
            <a:avLst>
              <a:gd name="adj" fmla="val 3478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16052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1년에 1번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4526280"/>
            <a:ext cx="108722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의사결정자에게 다시 닿으려면 1년을 기다려야 한다.</a:t>
            </a:r>
            <a:endParaRPr lang="en-US" sz="22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타이밍의 가치가 비용보다 크다 — 이것이 박람회를 영업 행사가 아닌 브랜딩 forcing function으로 보는 이유다.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3   CURRENT STATE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산업의 표준 결과 — 우리 KPI 설계의 외부 출처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Tenet 2 (lead 질 &gt; 수)와 Tenet 6 (24h follow-up)이 이 두 숫자에서 파생된다.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5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7033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11.5%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 trade show 평균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lead 전환율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Event Marketer 2024 B2B Event Marketing Trends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51960" y="1188720"/>
            <a:ext cx="37033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46304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00" kern="0" dirty="0">
                <a:solidFill>
                  <a:srgbClr val="E059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434840" y="274320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follow-up 부재로 사장되는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lead 비율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34840" y="370332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CEIR · Center for Exhibition Industry Research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1188720"/>
            <a:ext cx="37033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46304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7×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8229600" y="274320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24h 내 contact 시 전환률 (48h = 3×)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370332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Default · Markempa 종합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1127455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370832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숫자가 우리에게 강제하는 두 가지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" y="4782312"/>
            <a:ext cx="108722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Tenet 2 (lead 질 &gt; 수) — 200건 anchor는 후속 nurturing 능력의 한계에서 멈춘다. 그 한계를 넘는 굿즈 카운터형 수집은 사장률 80%에 합류한다.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Tenet 6 (24h follow-up) — 폐회 후 24시간 안에 본부 lead → 영업팀, 점주 lead → saai.store nurturing 두 분기를 가동한다. WS-5·WS-7 영입이 D-90까지 lock되어야 한다.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" y="5852160"/>
            <a:ext cx="10872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post-event nurturing이 잘 굴러가면 전환률 11.5% → 18–25%까지 상승 (Makai Inc.)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4   WORKING BACKWARDS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Mission을 세 층으로 분리한 이유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셋이 같은 데드라인에서 떨어지지만 수명과 측정 방식이 다르다.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6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74552" cy="1097280"/>
          </a:xfrm>
          <a:prstGeom prst="roundRect">
            <a:avLst>
              <a:gd name="adj" fmla="val 6667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280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50876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박람회를 핑계로 브랜딩을 끝내고, 브랜딩을 무기로 가맹사업 시장에 첫 깃발을 꽂는다.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3621024" cy="36576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63347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98064" y="263347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영구 자산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2971800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브랜딩의 완성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8368" y="3657600"/>
            <a:ext cx="32186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셋을 하나의 약속으로 정돈. 박람회가 끝나도 사라지지 않는다 — 마스터 visual·메시지·lockup. Phase 2 brand 이니셔티브의 출발점.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56692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Tenet 1이 가리키는 자산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61104" y="2468880"/>
            <a:ext cx="3621024" cy="36576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2272" y="263347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01968" y="263347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반-영구 자산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62272" y="2971800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 운영 플레이북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462272" y="3657600"/>
            <a:ext cx="32186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정돈된 브랜드를 부스·데모·굿즈·R&amp;R·lead 흐름으로 번역. 박람회용으로 만들지만 다음 동급 행사·로드쇼·고객 데이에 재사용.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62272" y="56692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Tenets 3·4가 디자인 가이드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65008" y="2468880"/>
            <a:ext cx="3621024" cy="36576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66176" y="263347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405872" y="263347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66176" y="2971800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프랜차이즈 박람회 성공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266176" y="3657600"/>
            <a:ext cx="32186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플레이북의 실증. 본부 10건 / 점주 200건 / 후속 3·30건. 박람회에서 끝나며 회고로 L1·L2의 다음 wave에 피드백.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66176" y="56692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Tenets 2·6이 KPI 설계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4   WORKING BACKWARDS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KPI는 anchor + 밴드 + 외부 벤치마크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밴드 안이면 정상 달성, 하단 미만은 정성 회고. anchor 하향은 CEO 합의 (Escalation).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7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74552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25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1325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anchor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밴드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시점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321040" y="13258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벤치마크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1755648"/>
            <a:ext cx="10908792" cy="10973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19202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미팅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08960" y="192024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80560" y="192024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– 15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92024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3일 누계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21040" y="192024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풀 9,960개 중 핵심 의사결정자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" y="2660904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6974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점주 lead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108960" y="269748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0560" y="269748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 – 300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0" y="269748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3일 누계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21040" y="269748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 평균 11.5% / nurturing 18–25%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" y="3438144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47472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saai.store 신규 구독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108960" y="347472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 (D-32 합의)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80560" y="347472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43600" y="347472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기간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21040" y="347472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편의점 점주 entry 자연스러움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8368" y="4215384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25196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본부 도입 검토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108960" y="425196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3건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480560" y="425196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943600" y="425196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D+28 누계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321040" y="425196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미팅 × 30% 전환 가정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58368" y="4992624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502920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점주 SC 도입 검토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108960" y="502920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30건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480560" y="502920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943600" y="502920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D+28 누계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321040" y="502920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점주 lead × 15% (평균 상회)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58368" y="580644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§4 KPI 표 · §6 측정 · 외부 벤치마크는 §3 출처 참조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4   WORKING BACKWARDS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현장 — 두 청중, 두 funnel (B안 / D안)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메시지 워크숍 A~D 중 B(본부)·D(점주) 채택, A·C 폐기. 카피 final은 D-75 WS-0 lock과 함께.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8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5541264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25880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B안 · 본부 트랙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1645920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가맹본부 사업개발·IT 담당자, 의사결정자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2194560"/>
            <a:ext cx="36576" cy="1188720"/>
          </a:xfrm>
          <a:prstGeom prst="rect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194560"/>
            <a:ext cx="49286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"점주가 매일 머무는 본부 — saai.store가 매일, StoreCare가 매장에서"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" y="3566160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응대 방식 — 미팅 공간, 깊은 대화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4023360"/>
            <a:ext cx="5138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pPr algn="l" indent="0" marL="0">
              <a:buNone/>
            </a:pPr>
            <a:r>
              <a:rPr lang="en-US" sz="18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</a:t>
            </a:r>
            <a:pPr algn="l" indent="0" marL="0">
              <a:buNone/>
            </a:pPr>
            <a:r>
              <a:rPr lang="en-US" sz="13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본부 미팅 anchor (밴드 5–15)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58368" y="5166360"/>
            <a:ext cx="5138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funnel: 사전 예약 7–8 + 워크인 2–3 → 미팅 → 후속 본부 도입 3건 (D+28)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0488" y="1188720"/>
            <a:ext cx="5541264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1656" y="1325880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D안 · 점주 트랙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91656" y="1645920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가맹점주, 예비 창업자 (편의점 비중 높음)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91656" y="2194560"/>
            <a:ext cx="36576" cy="1188720"/>
          </a:xfrm>
          <a:prstGeom prst="rect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2194560"/>
            <a:ext cx="49286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"매장의 매일을 함께 — saai.store가 알려주고, StoreCare가 챙깁니다"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91656" y="3566160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응대 방식 — saai.store 구독, 빠른 데모, 즉석 lead 캡처, 굿즈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91656" y="4023360"/>
            <a:ext cx="5138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</a:t>
            </a:r>
            <a:pPr algn="l" indent="0" marL="0">
              <a:buNone/>
            </a:pPr>
            <a:r>
              <a:rPr lang="en-US" sz="18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</a:t>
            </a:r>
            <a:pPr algn="l" indent="0" marL="0">
              <a:buNone/>
            </a:pPr>
            <a:r>
              <a:rPr lang="en-US" sz="13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점주 lead anchor (밴드 100–300)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391656" y="5166360"/>
            <a:ext cx="5138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funnel: 데모·굿즈 트리거 → A/B/C tier 분류 → 후속 SC 도입 30건 (D+28)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4   WORKING BACKWARDS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라인업과 박람회 노출 형태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saai.store는 점주 entry, StoreCare는 양쪽, StoreInsight는 본부 자료, Future는 본부 main lineup.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9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74552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1325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0" y="1325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점주향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1325880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노출 형태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1755648"/>
            <a:ext cx="10908792" cy="10973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92024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saai.store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26080" y="192024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1B5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97680" y="2121408"/>
            <a:ext cx="640080" cy="329184"/>
          </a:xfrm>
          <a:prstGeom prst="roundRect">
            <a:avLst>
              <a:gd name="adj" fmla="val 11111"/>
            </a:avLst>
          </a:prstGeom>
          <a:solidFill>
            <a:srgbClr val="E6F4E6"/>
          </a:solidFill>
          <a:ln w="12700">
            <a:solidFill>
              <a:srgbClr val="E6F4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12140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1920240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점주 walk-in 메인 entry — 뉴스레터 구독 + 굿즈 + 점주 lead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" y="2660904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269748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StoreCare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926080" y="2898648"/>
            <a:ext cx="640080" cy="329184"/>
          </a:xfrm>
          <a:prstGeom prst="roundRect">
            <a:avLst>
              <a:gd name="adj" fmla="val 11111"/>
            </a:avLst>
          </a:prstGeom>
          <a:solidFill>
            <a:srgbClr val="E6F4E6"/>
          </a:solidFill>
          <a:ln w="12700">
            <a:solidFill>
              <a:srgbClr val="E6F4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28986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0" y="2898648"/>
            <a:ext cx="640080" cy="329184"/>
          </a:xfrm>
          <a:prstGeom prst="roundRect">
            <a:avLst>
              <a:gd name="adj" fmla="val 11111"/>
            </a:avLst>
          </a:prstGeom>
          <a:solidFill>
            <a:srgbClr val="E6F4E6"/>
          </a:solidFill>
          <a:ln w="12700">
            <a:solidFill>
              <a:srgbClr val="E6F4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28986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2697480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깊은 데모 + 점주에겐 "본부 도입 시 이런 가치" 노출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" y="3438144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47472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StoreInsight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926080" y="3675888"/>
            <a:ext cx="640080" cy="329184"/>
          </a:xfrm>
          <a:prstGeom prst="roundRect">
            <a:avLst>
              <a:gd name="adj" fmla="val 11111"/>
            </a:avLst>
          </a:prstGeom>
          <a:solidFill>
            <a:srgbClr val="E6F4E6"/>
          </a:solidFill>
          <a:ln w="12700">
            <a:solidFill>
              <a:srgbClr val="E6F4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0" y="367588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97680" y="347472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1B5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669280" y="3474720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미팅 자료 + 부스 한쪽 패널 (B2B 브랜딩 v1까지)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11274552" cy="1554480"/>
          </a:xfrm>
          <a:prstGeom prst="roundRect">
            <a:avLst>
              <a:gd name="adj" fmla="val 4706"/>
            </a:avLst>
          </a:prstGeom>
          <a:solidFill>
            <a:srgbClr val="FFF7DD"/>
          </a:solidFill>
          <a:ln w="12700">
            <a:solidFill>
              <a:srgbClr val="FFF7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" y="4736592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FFF7DD"/>
          </a:solidFill>
          <a:ln w="12700">
            <a:solidFill>
              <a:srgbClr val="FFF7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47365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7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필요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" y="5074920"/>
            <a:ext cx="10872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Future 라인은 본부 main lineup 4개에 동등 포함 · 점주 트랙·점주 zone 미반영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8368" y="5486400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정확한 제품명·timing·noise level은 D-90 발족 회의 25–50' 안건. "동등 포함"이 곧 "first reveal"을 의미하지 않음 — 노출 수위는 별도 strategic 결정.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5  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 — 핵심 4 + 1 + 영입 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발족 시점 9명 + 외부 PR 대행사 1곳. 영입 4자리 lock은 D-90.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10 / 21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핵심 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2148840" cy="1737360"/>
          </a:xfrm>
          <a:prstGeom prst="roundRect">
            <a:avLst>
              <a:gd name="adj" fmla="val 4211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7300" y="1691640"/>
            <a:ext cx="548640" cy="548640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73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2331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 Lead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6517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governance + WS-3 데모 주도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52344" y="1508760"/>
            <a:ext cx="2148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52444" y="1691640"/>
            <a:ext cx="548640" cy="548640"/>
          </a:xfrm>
          <a:prstGeom prst="ellipse">
            <a:avLst/>
          </a:prstGeom>
          <a:solidFill>
            <a:srgbClr val="F9F9FB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5244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889504" y="2331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 Lead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89504" y="26517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WS-0 브랜딩 (visual + 카피 final)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47488" y="1508760"/>
            <a:ext cx="2148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47588" y="1691640"/>
            <a:ext cx="548640" cy="548640"/>
          </a:xfrm>
          <a:prstGeom prst="ellipse">
            <a:avLst/>
          </a:prstGeom>
          <a:solidFill>
            <a:srgbClr val="F9F9FB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4758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84648" y="2331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디자이너 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84648" y="26517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WS-1 / WS-4 분배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42632" y="1508760"/>
            <a:ext cx="2148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42732" y="1691640"/>
            <a:ext cx="548640" cy="548640"/>
          </a:xfrm>
          <a:prstGeom prst="ellipse">
            <a:avLst/>
          </a:prstGeom>
          <a:solidFill>
            <a:srgbClr val="F9F9FB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42732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79792" y="2331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디자이너 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79792" y="26517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WS-1 / WS-4 분배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37776" y="1508760"/>
            <a:ext cx="2148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37876" y="1691640"/>
            <a:ext cx="548640" cy="548640"/>
          </a:xfrm>
          <a:prstGeom prst="ellipse">
            <a:avLst/>
          </a:prstGeom>
          <a:solidFill>
            <a:srgbClr val="F9F9FB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3787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774936" y="2331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인터페이스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774936" y="26517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WS-2 부스 시공 외주 (6월 초)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352044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059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영입 필요 · D-90까지 lock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840480"/>
            <a:ext cx="27157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" y="425196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데모 P/E co-owner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21792" y="470916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 Lead와 짝, 기술 세부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319272" y="3840480"/>
            <a:ext cx="27157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83864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483864" y="425196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lead·CRM 오너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3483864" y="470916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캡처·태깅·핸드오프 (Tenet 2)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81344" y="3840480"/>
            <a:ext cx="27157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45936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45936" y="425196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인력 운영 오너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345936" y="470916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시간대별 배치·R&amp;R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043416" y="3840480"/>
            <a:ext cx="27157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08008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WS-7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208008" y="425196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사후 영업 오너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9208008" y="470916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24h 가동 (Tenet 6)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5394960"/>
            <a:ext cx="11274552" cy="731520"/>
          </a:xfrm>
          <a:prstGeom prst="roundRect">
            <a:avLst>
              <a:gd name="adj" fmla="val 10000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8368" y="5394960"/>
            <a:ext cx="10872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5</a:t>
            </a:r>
            <a:pPr algn="l" indent="0" marL="0">
              <a:buNone/>
            </a:pPr>
            <a:r>
              <a:rPr lang="en-US" sz="18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+   </a:t>
            </a:r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영입 4</a:t>
            </a:r>
            <a:pPr algn="l" indent="0" marL="0">
              <a:buNone/>
            </a:pPr>
            <a:r>
              <a:rPr lang="en-US" sz="18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=   </a:t>
            </a:r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D-90 발족 시 9명</a:t>
            </a:r>
            <a:pPr algn="l" indent="0" marL="0">
              <a:buNone/>
            </a:pPr>
            <a:r>
              <a:rPr lang="en-US" sz="14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+   PR 대행사 1곳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5  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 Charter v0 — 단독 결정 / Escalation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D-90 발족 회의에서 v1 lock. D-91까지 회사 governance 정합 tuning.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11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5541264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53312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TF가 단독으로 결정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1691640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운영·실행에 필요한 모든 작업은 TF 안에서 닫힌다.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176272"/>
            <a:ext cx="164592" cy="164592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14884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21031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집행 (1,100만원 한도 내 재배분 자유)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2569464"/>
            <a:ext cx="164592" cy="164592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54203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249631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 디자인·시공 시안·외주·일정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2962656"/>
            <a:ext cx="164592" cy="164592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93522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" y="28895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메시지 카피·visual final (B안/D안 안에서)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3355848"/>
            <a:ext cx="164592" cy="164592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32841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" y="328269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데모 시나리오·백업 (Tenet 3 디폴트)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3749040"/>
            <a:ext cx="164592" cy="164592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72160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05840" y="367588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굿즈 SKU·수량·인쇄물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" y="4142232"/>
            <a:ext cx="164592" cy="164592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11480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05840" y="40690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lead 캡처 폼·CRM 태깅 (Tenet 2)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7240" y="4535424"/>
            <a:ext cx="164592" cy="164592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50799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05840" y="446227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인력 R&amp;R · 시간대 배치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77240" y="4928616"/>
            <a:ext cx="164592" cy="164592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901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05840" y="485546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follow-up 영업 흐름 (Tenet 6)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77240" y="5321808"/>
            <a:ext cx="164592" cy="164592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29437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05840" y="524865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워크스트림 sub-task · 회의 의제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90488" y="1188720"/>
            <a:ext cx="5541264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91656" y="1353312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059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CEO 합의 필요 (Escalation)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391656" y="1691640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 차원의 영향이 있어 TF 안에서 닫을 수 없다.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91656" y="2148840"/>
            <a:ext cx="713232" cy="292608"/>
          </a:xfrm>
          <a:prstGeom prst="roundRect">
            <a:avLst>
              <a:gd name="adj" fmla="val 12500"/>
            </a:avLst>
          </a:prstGeom>
          <a:solidFill>
            <a:srgbClr val="FDEBEB"/>
          </a:solidFill>
          <a:ln w="12700">
            <a:solidFill>
              <a:srgbClr val="FDEB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91656" y="21488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9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59752" y="2103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합계 초과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988552" y="2103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1,100만원 한도 넘는 모든 지출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91656" y="2743200"/>
            <a:ext cx="713232" cy="292608"/>
          </a:xfrm>
          <a:prstGeom prst="roundRect">
            <a:avLst>
              <a:gd name="adj" fmla="val 12500"/>
            </a:avLst>
          </a:prstGeom>
          <a:solidFill>
            <a:srgbClr val="FDEBEB"/>
          </a:solidFill>
          <a:ln w="12700">
            <a:solidFill>
              <a:srgbClr val="FDEB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91656" y="274320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9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159752" y="2697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충돌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988552" y="26974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회사 브랜드 가이드와 어긋날 때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391656" y="3337560"/>
            <a:ext cx="713232" cy="292608"/>
          </a:xfrm>
          <a:prstGeom prst="roundRect">
            <a:avLst>
              <a:gd name="adj" fmla="val 12500"/>
            </a:avLst>
          </a:prstGeom>
          <a:solidFill>
            <a:srgbClr val="FDEBEB"/>
          </a:solidFill>
          <a:ln w="12700">
            <a:solidFill>
              <a:srgbClr val="FDEB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91656" y="333756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9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159752" y="3291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Strategic 결정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988552" y="32918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Future 노출 · first reveal · 가격 공개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391656" y="3931920"/>
            <a:ext cx="713232" cy="292608"/>
          </a:xfrm>
          <a:prstGeom prst="roundRect">
            <a:avLst>
              <a:gd name="adj" fmla="val 12500"/>
            </a:avLst>
          </a:prstGeom>
          <a:solidFill>
            <a:srgbClr val="FFF7DD"/>
          </a:solidFill>
          <a:ln w="12700">
            <a:solidFill>
              <a:srgbClr val="FFF7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91656" y="39319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7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159752" y="3886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 하향 조정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988552" y="38862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anchor (10/200/3/30 + N) 낮춤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391656" y="4526280"/>
            <a:ext cx="713232" cy="292608"/>
          </a:xfrm>
          <a:prstGeom prst="roundRect">
            <a:avLst>
              <a:gd name="adj" fmla="val 12500"/>
            </a:avLst>
          </a:prstGeom>
          <a:solidFill>
            <a:srgbClr val="FFF7DD"/>
          </a:solidFill>
          <a:ln w="12700">
            <a:solidFill>
              <a:srgbClr val="FFF7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91656" y="452628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7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159752" y="4480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발표·제휴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8988552" y="4480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제휴사·고객사 사례 공개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391656" y="5120640"/>
            <a:ext cx="713232" cy="292608"/>
          </a:xfrm>
          <a:prstGeom prst="roundRect">
            <a:avLst>
              <a:gd name="adj" fmla="val 12500"/>
            </a:avLst>
          </a:prstGeom>
          <a:solidFill>
            <a:srgbClr val="FFF7DD"/>
          </a:solidFill>
          <a:ln w="12700">
            <a:solidFill>
              <a:srgbClr val="FFF7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91656" y="51206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7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159752" y="5074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인선 갈등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8988552" y="50749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영입이 다른 팀 우선순위와 충돌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5  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결정은 row로만 산다 — Tenet 5의 운영 규칙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회의·Slack·1:1 어디서든 24h 내 「결정」 DB row. 회의 빠뜨리고 진행 금지.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12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271576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17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 started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31720"/>
            <a:ext cx="2441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중 — 옵션이 떠 있는 상태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72968" y="20574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3319272" y="1280160"/>
            <a:ext cx="271576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1417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56432" y="182880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 progress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456432" y="2331720"/>
            <a:ext cx="2441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정리 — 결정자·근거·반대 정리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20574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6181344" y="1280160"/>
            <a:ext cx="2715768" cy="2103120"/>
          </a:xfrm>
          <a:prstGeom prst="roundRect">
            <a:avLst>
              <a:gd name="adj" fmla="val 3478"/>
            </a:avLst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1417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18504" y="182880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Done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18504" y="2331720"/>
            <a:ext cx="2441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Lock — 4필드 필수 채움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97112" y="20574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9043416" y="1280160"/>
            <a:ext cx="271576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80576" y="1417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80576" y="182880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 시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180576" y="2331720"/>
            <a:ext cx="2441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row 생성 — 이전 row Done 유지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703320"/>
            <a:ext cx="5541264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867912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row 필수 필드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" y="4279392"/>
            <a:ext cx="513892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결정자 — 한 명 (TF Lead 또는 WS 오너)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— 왜 이 결정인가 (데이터·constraint·trade-off)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반대 의견 — 회의 중 제기된 반대를 의도적으로 기록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영향 받는 WS — WS-0 ~ WS-7 중 해당 항목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90488" y="3703320"/>
            <a:ext cx="5541264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91656" y="3867912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회의체 권위 — 주간 회의 결정은 binding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91656" y="4279392"/>
            <a:ext cx="513892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 불참자에 대해서도 사후 lock 인정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 Lead 단독: 일정 미세 조정·cadence tuning·외주 컨택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 必: 인선·예산 재배분·메시지 final·KPI 변경·escalation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 외 결정: 24h 내 row + 다음 회의 ack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5  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D-기준 시간표 — 16~17주 · 4 마일스톤 · D+28까지 측정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D-0 = 2026-08-25 (행사 1일차). 마일스톤 리뷰는 그 주의 주간 회의를 대체한다.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13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3692347"/>
            <a:ext cx="10908792" cy="22860"/>
          </a:xfrm>
          <a:prstGeom prst="rect">
            <a:avLst/>
          </a:prstGeom>
          <a:solidFill>
            <a:srgbClr val="D9DBDD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6888" y="3575304"/>
            <a:ext cx="2424176" cy="256032"/>
          </a:xfrm>
          <a:prstGeom prst="rect">
            <a:avLst/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611880"/>
            <a:ext cx="182880" cy="182880"/>
          </a:xfrm>
          <a:prstGeom prst="ellipse">
            <a:avLst/>
          </a:prstGeom>
          <a:solidFill>
            <a:srgbClr val="787F89"/>
          </a:solidFill>
          <a:ln w="12700">
            <a:solidFill>
              <a:srgbClr val="787F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3383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D-91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5/26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-137160" y="2331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CEO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governance 정합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60728" y="3611880"/>
            <a:ext cx="182880" cy="182880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94968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D-90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94968" y="41148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5/27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4928" y="43891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 발족 · Charter v1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72816" y="3611880"/>
            <a:ext cx="182880" cy="182880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7056" y="3383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D-75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7056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6/11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7016" y="2331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WS-0 visual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system v1 lock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84904" y="3611880"/>
            <a:ext cx="182880" cy="182880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19144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D-60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19144" y="41148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6/26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99104" y="43891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 mockup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데모 v1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96992" y="3611880"/>
            <a:ext cx="182880" cy="182880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31232" y="3383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D-32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31232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7/24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11192" y="2331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발주 결정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(WS-0·1·4 lock)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09080" y="3611880"/>
            <a:ext cx="182880" cy="182880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43320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43320" y="41148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8/18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23280" y="43891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full dry run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go/no-go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821168" y="3611880"/>
            <a:ext cx="182880" cy="182880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55408" y="3383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55408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8/25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35368" y="2331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COEX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시작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033256" y="3611880"/>
            <a:ext cx="182880" cy="182880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67496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D+3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667496" y="41148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8/28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347456" y="43891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24h lead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라우팅 마감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245344" y="3611880"/>
            <a:ext cx="182880" cy="182880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79584" y="3383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D+7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879584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9/3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559544" y="2331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 1차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1457432" y="3611880"/>
            <a:ext cx="182880" cy="182880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091672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D+28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1091672" y="41148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9/22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771632" y="43891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KPI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2차 집계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866888" y="3383280"/>
            <a:ext cx="242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COEX 박람회 3일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5120640"/>
            <a:ext cx="1127455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8368" y="5285232"/>
            <a:ext cx="108722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 회의 — 수요일 11:00~12:00 (60분) · 진척·blocker·결정 기록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일일 Slack #tf-박람회 — 매일 10시까지 자율, blocker는 24h 내 surface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마일스톤 리뷰 4회 — 그 주의 주간 회의 대체 (각 90–120분, 필요 시 CEO)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6   RISKS · BUDGET · MEASUREMENT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 리스크가 박람회 결과를 좌우한다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mitigation의 구체 액션은 📋 Tasks DB의 「Mitigation」 row에서 추적.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14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621024" cy="493776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389888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FDEBEB"/>
          </a:solidFill>
          <a:ln w="12700">
            <a:solidFill>
              <a:srgbClr val="FDEB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9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15184" y="138988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178308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데모 안정성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8368" y="24688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2788920"/>
            <a:ext cx="3218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 시연 실패시 인상 마이너스 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397764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4297680"/>
            <a:ext cx="32186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회선 분리된 자체 네트워크 + 시나리오별 녹화본 디폴트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" y="56692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Tenet 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61104" y="1188720"/>
            <a:ext cx="3621024" cy="493776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62272" y="1389888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FFF7DD"/>
          </a:solidFill>
          <a:ln w="12700">
            <a:solidFill>
              <a:srgbClr val="FFF7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62272" y="13898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7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19088" y="138988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WS-1 · WS-6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62272" y="178308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메시지 혼재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462272" y="24688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62272" y="2788920"/>
            <a:ext cx="3218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본부/점주 트랙 분리 실패 → 둘 다 약화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62272" y="397764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해소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62272" y="4297680"/>
            <a:ext cx="32186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 zoning + 시간대별 R&amp;R, zoning 시안 D-60 / R&amp;R lock D-32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62272" y="56692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Tenet 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65008" y="1188720"/>
            <a:ext cx="3621024" cy="493776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66176" y="1389888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FDEBEB"/>
          </a:solidFill>
          <a:ln w="12700">
            <a:solidFill>
              <a:srgbClr val="FDEB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66176" y="13898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9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222992" y="138988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WS-5 · WS-7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66176" y="178308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lead leak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266176" y="24688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66176" y="2788920"/>
            <a:ext cx="3218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업계 평균 80% 사장 (CEIR) — follow-up 부재가 원인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66176" y="397764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해소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66176" y="4297680"/>
            <a:ext cx="32186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WS-5(A/B/C 분류) + WS-7(분기 nurturing) D-90까지 영입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266176" y="56692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Tenets 2 · 6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6   RISKS · BUDGET · MEASUREMENT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— Lean tier · 합계 800–1,100만원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간 재배분 자유. 합계 한도 초과만 escalation (CEO 합의).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15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74552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53312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항목별 예산 밴드 — 막대는 low~high 범위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84448" y="1874520"/>
            <a:ext cx="4572" cy="2834640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9452" y="1874520"/>
            <a:ext cx="4572" cy="2834640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5132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34456" y="1874520"/>
            <a:ext cx="4572" cy="2834640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0136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09460" y="1874520"/>
            <a:ext cx="4572" cy="2834640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5140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84464" y="1874520"/>
            <a:ext cx="4572" cy="2834640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10144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459468" y="1874520"/>
            <a:ext cx="4572" cy="2834640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5148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634472" y="1874520"/>
            <a:ext cx="4572" cy="2834640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60152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274552" y="4709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만원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참가비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09460" y="1965960"/>
            <a:ext cx="45720" cy="256032"/>
          </a:xfrm>
          <a:prstGeom prst="roundRect">
            <a:avLst>
              <a:gd name="adj" fmla="val 40000"/>
            </a:avLst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00900" y="191109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" y="24048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 시공 (조립식)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34456" y="2496312"/>
            <a:ext cx="3525012" cy="256032"/>
          </a:xfrm>
          <a:prstGeom prst="roundRect">
            <a:avLst>
              <a:gd name="adj" fmla="val 7143"/>
            </a:avLst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5188" y="24414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200–500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293522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가구·전기·모니터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171950" y="3026664"/>
            <a:ext cx="1175004" cy="256032"/>
          </a:xfrm>
          <a:prstGeom prst="roundRect">
            <a:avLst>
              <a:gd name="adj" fmla="val 7143"/>
            </a:avLst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2674" y="2971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50–150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8368" y="34655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굿즈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59452" y="3557016"/>
            <a:ext cx="4700016" cy="256032"/>
          </a:xfrm>
          <a:prstGeom prst="roundRect">
            <a:avLst>
              <a:gd name="adj" fmla="val 7143"/>
            </a:avLst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05188" y="35021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100–500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8368" y="39959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인쇄물 (배너·리플렛·QR)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171950" y="4087368"/>
            <a:ext cx="1175004" cy="256032"/>
          </a:xfrm>
          <a:prstGeom prst="roundRect">
            <a:avLst>
              <a:gd name="adj" fmla="val 7143"/>
            </a:avLst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2674" y="40325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50–150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544068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  </a:t>
            </a:r>
            <a:pPr algn="l" indent="0" marL="0">
              <a:buNone/>
            </a:pPr>
            <a:r>
              <a:rPr lang="en-US" sz="32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800 – 1,100</a:t>
            </a:r>
            <a:pPr algn="l" indent="0" marL="0">
              <a:buNone/>
            </a:pPr>
            <a:r>
              <a:rPr lang="en-US" sz="16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만원</a:t>
            </a:r>
            <a:pPr algn="l" indent="0" marL="0">
              <a:buNone/>
            </a:pPr>
            <a:r>
              <a:rPr lang="en-US" sz="13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· Tenet 1에 따라 L1 자산에 인력 비중 우선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6   RISKS · BUDGET · MEASUREMENT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— 1차 (D+3) · 2차 (D+28) · 회고 (D+7)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L3 KPI 집계 + 정성 회고를 모두 진행해 L1·L2 자산 가치를 다음 wave로 어떻게 이어갈지 결정.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16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621024" cy="493776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89888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집계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173736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D+0 ~ D+3 (8/25 ~ 8/28)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" y="2148840"/>
            <a:ext cx="3218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미팅 수 · 점주 lead 수 집계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306324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333756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WS-5 · TF Lead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3931920"/>
            <a:ext cx="32186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lead 캡처 + 미팅 카운트. D+3 폐회 후 24h 내 본부 lead → 영업팀, 점주 lead → saai.store nurturing 라우팅 마감 (Tenet 6).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61104" y="1188720"/>
            <a:ext cx="3621024" cy="493776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62272" y="1389888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62272" y="173736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D+7 (9/3)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62272" y="2148840"/>
            <a:ext cx="3218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 결과 + 정성 회고 + 운영 회고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62272" y="306324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62272" y="333756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TF + 필요 시 CEO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62272" y="3931920"/>
            <a:ext cx="32186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L3 1차 결과 vs anchor·밴드 비교. 정성 회고는 L1·L2 자산 가치 + 다음 wave 우선순위 입력으로 사용.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65008" y="1188720"/>
            <a:ext cx="3621024" cy="493776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66176" y="1389888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2차 집계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66176" y="173736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D+28 (9/22)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66176" y="2148840"/>
            <a:ext cx="3218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본부·점주 도입 검토 의향 집계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66176" y="306324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66176" y="333756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WS-7 · 영업팀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66176" y="3931920"/>
            <a:ext cx="32186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3건 · 점주 SC 30건 anchor 검증. 밴드 하단 미만은 정성 회고 대상이며, 하향은 CEO 합의(escalation).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7   TERMINATION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TF는 언제 사라지나 — 종료 조건 4개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가지가 모두 충족될 때 TF 해산. 예상 종료: D+14 ~ D+21 (9/10 ~ 9/17).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17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71576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77340" y="1417320"/>
            <a:ext cx="475488" cy="47548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734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2057400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D+7 (9/3) 회고 회의 완료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 결과 · 정성 회고 · 운영 회고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19272" y="1188720"/>
            <a:ext cx="271576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9412" y="1417320"/>
            <a:ext cx="475488" cy="47548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9412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56432" y="2057400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Lead follow-up 운영 이관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56432" y="269748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lead → 영업팀, 점주 lead → saai.store nurturing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1344" y="1188720"/>
            <a:ext cx="271576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1484" y="1417320"/>
            <a:ext cx="475488" cy="47548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01484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18504" y="2057400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brand kickoff doc 전달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18504" y="269748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WS-0 자산 인계 (L1 자산이 다음 wave로)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43416" y="1188720"/>
            <a:ext cx="271576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63556" y="1417320"/>
            <a:ext cx="475488" cy="47548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63556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80576" y="2057400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 회고 doc 발행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80576" y="269748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페이지 마지막 섹션으로 추가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520440"/>
            <a:ext cx="11274552" cy="2606040"/>
          </a:xfrm>
          <a:prstGeom prst="roundRect">
            <a:avLst>
              <a:gd name="adj" fmla="val 2807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65760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폐회 후 1주 시점 — 우리 손에 있어야 하는 4가지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406908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통합 마스터 visual system + 제품 라인업 메시지 + 부스 운영 플레이북 (L1+L2 자산)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452628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A/B/C 분류된 본부 lead와 점주 lead 풀 (영업팀·saai.store nurturing 라우팅 완료)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498348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Phase 2 brand 이니셔티브 kickoff doc 초안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544068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다음 동급 행사를 위한 anchor·밴드 재조정 근거 (정성 회고)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8   FAQ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FAQ — 전략·정당화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 왜 지금 / Q2 ROI / Q3 anchor 산출 근거.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18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621024" cy="493776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533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1664208"/>
            <a:ext cx="3218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주력 고객 잘 다지고 있는데, 가맹사업 시장에 왜 굳이 지금?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2560320"/>
            <a:ext cx="32186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9,960개가 한 자리에 모이는 단일 윈도우가 1년에 한 번. 풀이 정체기를 빠져나오는 신호(+13.2%). "잘 하고 있을 때 다음 시장을 연다"는 명제 — 영업 행사가 아니라 브랜딩 forcing function으로 본다.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61104" y="1188720"/>
            <a:ext cx="3621024" cy="493776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13533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62272" y="1664208"/>
            <a:ext cx="3218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ROI 계산은? 1,100만원의 정당화 근거?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62272" y="2560320"/>
            <a:ext cx="32186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L3 KPI만 보면 본부 3건 + 점주 30건이 1차 회수. 그러나 진짜 회수는 L1·L2 자산 — Phase 2를 무에서 시작하지 않는다는 것이 자본 회수다 (Tenet 1).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65008" y="1188720"/>
            <a:ext cx="3621024" cy="493776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6176" y="13533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66176" y="1664208"/>
            <a:ext cx="3218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미팅 10건 anchor는 어떻게 정했나?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66176" y="2560320"/>
            <a:ext cx="32186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예약 7~8 + 워크인 2~3 추정치. 밴드 5–15는 ±50%. D-32에 본부 사전 예약 진척으로 재검토 가능 — 하향은 CEO 합의 (escalation).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8   FAQ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FAQ — 실행 가능성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 Future 노출 시기 / Q5 영입 4명 가능성 / Q6 lead 80% 사장 대비.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19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621024" cy="493776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533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1664208"/>
            <a:ext cx="3218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Future 라인 본부 동등 노출이 너무 이르지 않나?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2560320"/>
            <a:ext cx="32186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"동등 포함"이 곧 "first reveal"이 아니다. 노출 수위(콘셉트 패널 vs 데모 vs 가격)는 별도 strategic 결정 (escalation 대상). D-90 발족 회의 25–50' 안건.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61104" y="1188720"/>
            <a:ext cx="3621024" cy="493776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13533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62272" y="1664208"/>
            <a:ext cx="3218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영입 4명을 D-90까지 채울 수 있는 근거?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62272" y="2560320"/>
            <a:ext cx="32186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WS-3는 사내 partial allocation 가능, WS-5/6/7은 contract·freelance도 가능한 직무. WS-5 + WS-7이 lock 안 되면 lead leak이 anchor 하향으로 직결 — 우선 처리.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65008" y="1188720"/>
            <a:ext cx="3621024" cy="493776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6176" y="13533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66176" y="1664208"/>
            <a:ext cx="3218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lead 200건 중 80%가 사장된다는데, 우리는 다른가?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66176" y="2560320"/>
            <a:ext cx="32186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캡처 시점 A/B/C tier 분류 (WS-5), ② 폐회 후 24h 내 본부 → 영업팀 / 점주 → saai.store 자동 라우팅 (WS-7). 24h = 7x / 48h = 3x 전환률 차이 (Tenet 6).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8   FAQ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FAQ — 전술·인계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Q7 Lean tier 정당화 / Q8 외주 결정 / Q9 Phase 2 독립성 / Q10 박람회 후 모습.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20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554126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533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1645920"/>
            <a:ext cx="5138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Lean tier면 옆 큰 부스에 묻히지 않나?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148840"/>
            <a:ext cx="5138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 크기로 경쟁하지 않고 메시지로 경쟁. zoning(T4) + 데모 안정성(T3) + 24h follow-up(T6) 세 자산은 부스 크기와 무관. L1 자산에 인력 비중 우선 (T1).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90488" y="1188720"/>
            <a:ext cx="554126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1656" y="13533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91656" y="1645920"/>
            <a:ext cx="5138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WS-2(부스 시공)를 PR 대행사에 외주?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91656" y="2148840"/>
            <a:ext cx="5138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시공·자재·전기·인허가가 박람회 운영사와의 채널 관리를 요구. 내부 학습 비용 &gt; 외주 인터페이스 비용. PR 대행사 selection·계약은 D-60까지 결정.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554126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8679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4160520"/>
            <a:ext cx="5138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2가 박람회 결과와 무관하게 진행되는 게 맞나?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4663440"/>
            <a:ext cx="5138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2는 L3 KPI와 독립. 박람회 KPI 하단 미만이어도 WS-0 L1 자산은 D-75에 lock된 상태. 단 L3 결과는 Phase 2 메시지·타깃 우선순위에 정성 입력으로 들어감.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90488" y="3703320"/>
            <a:ext cx="554126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91656" y="38679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91656" y="4160520"/>
            <a:ext cx="5138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박람회가 끝났을 때 우리는 어떤 모습이고 싶은가?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91656" y="4663440"/>
            <a:ext cx="5138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L1+L2 자산 + A/B/C 분류된 lead 풀 + Phase 2 kickoff doc + 다음 anchor 재조정 근거 4가지가 손에 있으면 박람회는 성공이다.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 — D-90 발족 회의에서 lock해야 하는 항목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페이지가 곧 회고 doc의 출발점이 된다.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21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74552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13258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0" y="1325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1755648"/>
            <a:ext cx="10908792" cy="10973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 Lead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8745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WS-3 / WS-5 / WS-6 / WS-7 오너 영입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D-90 발족 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" y="2368296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4048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 Lead + CEO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240487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Charter v0 → v1 lock (Escalation 정합)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0" y="24048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D-91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" y="2898648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9352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 Lead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37560" y="293522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Future 라인 제품명·timing·noise level 확정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0" y="29352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발족 회의 25–50'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" y="3429000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4655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 Lead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37560" y="346557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WS-0 visual system v1 demo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0" y="346557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D-75 (6/11)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8368" y="3959352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9959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디자이너 1·2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37560" y="399592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 디자인 mockup + 데모 시나리오 v1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0" y="39959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D-60 (6/26)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8368" y="4489704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526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인터페이스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37560" y="45262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대행사 contracting + WS-2 킥오프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0" y="4526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6월 초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58368" y="5020056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50566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WS-5 오너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337560" y="505663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A/B/C tier 분류 룰 + CRM 태깅 정의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0" y="50566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D-32 (7/24)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58368" y="5550408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55869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WS-7 오너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337560" y="558698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24h 라우팅 자동화 셋업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144000" y="558698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D-7 (8/18)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박람회 TF 6-Pager</dc:title>
  <dc:subject>PptxGenJS Presentation</dc:subject>
  <dc:creator>SAAI</dc:creator>
  <cp:lastModifiedBy>SAAI</cp:lastModifiedBy>
  <cp:revision>1</cp:revision>
  <dcterms:created xsi:type="dcterms:W3CDTF">2026-05-11T11:11:17Z</dcterms:created>
  <dcterms:modified xsi:type="dcterms:W3CDTF">2026-05-11T11:11:17Z</dcterms:modified>
</cp:coreProperties>
</file>