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 · 박람회 TF · 6-pager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킥오프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끝낸다.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브랜딩을 무기로 가맹사업 시장에 첫 깃발을 꽂는다.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2026.08.25 – 08.27 · COEX 프랜차이즈 창업박람회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TF·경영진 공유본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21992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Tenets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95344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79392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68696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52744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Working Backwards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6096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99448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Risks·Budget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88752" y="4846320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88752" y="4846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4846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Termination·FAQ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1 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 담은 박람회 TF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60초 묵독용 1-pager.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· 사흘 누계 (5–15)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9272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56432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명단 · 사흘 누계 (100–300)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18504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도입 검토 · D+28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43416" y="1188720"/>
            <a:ext cx="2715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32588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pPr algn="l" indent="0" marL="0">
              <a:buNone/>
            </a:pP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80576" y="20574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점주 도입 검토 · D+28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34640"/>
            <a:ext cx="108722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TF는 코엑스 프랜차이즈 창업박람회를 마감으로 삼는다. 행사 기간은 2026년 8월 25일부터 27일까지 사흘이다.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마감을 기점으로 우리 제품 네 라인을 하나의 약속으로 묶는다. 네 라인은 saai.store, StoreCare, StoreInsight, 그리고 다음 라인이다. 묶음을 무기로 가맹사업 시장에 처음 진입한다.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TF의 진짜 결과물은 박람회 숫자가 아니다. 박람회 후 손에 남는 자산이 진짜 결과물이다. 자산은 세 가지다 — 통합된 디자인 시스템, 제품군 메시지, 부스 운영 방법.</a:t>
            </a:r>
            <a:endParaRPr lang="en-US" sz="14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예산은 800만~1,100만원. 핵심 인원 5명에 4명을 5월 27일(박람회 90일 전)까지 추가 영입한다. 총 9명 체제로 시작한다.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2   TENETS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의사결정에 앞서 합의해둔 원칙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본문의 거의 모든 결정은 이 일곱 원칙 중 하나로 거슬러 올라간다.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후 남는 자산이 더 무겁다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다음 행사에도 쓰인다.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KPI는 박람회가 끝나면 사라진다.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중 골라야 하면 자산 쪽.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18872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명단의 양보다 질이 중요하다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184708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평균은 명단 80% 사장.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가능 범위 안에서 잡는다.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 즉시 A·B·C 분류.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18872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9712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조용한 데모가 화려한 데모를 이긴다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184708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실패의 마이너스가 더 길게 남는다.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네트워크 + 녹화본 백업.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32일 전 최종 / 7일 전 재확인.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18872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135331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01784" y="135331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안 동선 분리가 메시지를 지킨다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44584" y="184708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본부와 점주는 듣고 싶은 게 다르다.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공간은 미팅, 점주 공간은 시연.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인력 배치로 분리 유지.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15568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결정은 한 줄로 기록된다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417880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회의·슬랙·1:1 어디서든 24h 내 기록.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없는 결정은 결정이 아니다.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변경은 새 행. 기존 행은 잠금 유지.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352044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3864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77640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안에 첫 후속 연락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20440" y="417880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24h이면 48h 대비 7배 진행률.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폐회 직후 자동 라우팅 가동.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→ 영업팀, 점주 → saai.store.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1344" y="352044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3685032"/>
            <a:ext cx="384048" cy="38404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39712" y="368503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청중, 두 흐름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82512" y="4178808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1곳 가치 &gt; 점주 1명.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점주는 구독으로 진입.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본부는 미팅으로 본 계약에 닿는다.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43416" y="3520440"/>
            <a:ext cx="2715768" cy="2240280"/>
          </a:xfrm>
          <a:prstGeom prst="roundRect">
            <a:avLst>
              <a:gd name="adj" fmla="val 3265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4584" y="36850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44584" y="402336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결정·리스크·예산은 이 일곱 원칙 중 하나로 추적된다.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본문에서 "§2 셋째 원칙"처럼 명시한다.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44584" y="53949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의사결정 원칙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한국의 프랜차이즈 시장이 보이는 신호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9,960개라는 의사결정자 풀. 2024년 실적, 2025년 발표.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3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9,960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가맹본부 (개)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+13.2%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13,725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브랜드 (개)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 10,886 (79%)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38만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64224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가맹점 (개)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매출 3.7억 (+4.3%)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3416" y="1188720"/>
            <a:ext cx="2715768" cy="283464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1463040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+13.2%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226296" y="274320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수 전년 대비 증감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26296" y="3703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정체기 회복 신호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38912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데이터가 박람회 TF에게 갖는 의미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828032"/>
            <a:ext cx="10872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10곳과 미팅을 잡는 것은 9,960개 풀의 약 0.1%에 닿는 일이다.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수가 두 자릿수 비율로 늘었다. 시장이 정체기를 빠져나오는 신호다. 우리는 회복 곡선의 초입에 들어간다.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응대 비중이 큰 이유는 행사 구성보다 시장 구조에서 나온다. 외식업 가맹점이 시장의 절반이다.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5833872"/>
            <a:ext cx="1087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서울시 보도자료 · 통계청 KOSIS · 한국경제 (2025년 발표)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박람회라는 행사가 갖는 의미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의사결정자와 점주 후보가 한 자리에 모인다. 사흘 동안. 1년에 한 번.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4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참가하는 8월 회차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5138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l" indent="0" marL="0">
              <a:buNone/>
            </a:pPr>
            <a:r>
              <a:rPr lang="en-US" sz="2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</a:t>
            </a:r>
            <a:pPr algn="l" indent="0" marL="0">
              <a:buNone/>
            </a:pPr>
            <a:r>
              <a:rPr lang="en-US" sz="16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2026.08.25 – 08.27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8368" y="2880360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COEX. 월드전람 주최. 본부와 점주 후보가 같이 모인다.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1188720"/>
            <a:ext cx="55412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의사결정자 풀이 모이는 IFS 규모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1691640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50,000</a:t>
            </a:r>
            <a:pPr algn="l" indent="0" marL="0">
              <a:buNone/>
            </a:pPr>
            <a:r>
              <a:rPr lang="en-US" sz="2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회당 예상 방문객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91656" y="2468880"/>
            <a:ext cx="5138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RX Korea 주최 IFS. 누적 54회 이상. 30,000명 이상 누적 방문. 8월 회차는 IFS보다 작지만 같은 풀을 공유한다.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6052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1년에 1번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52628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의사결정자에게 다시 닿으려면 1년을 기다린다.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" y="512064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사흘의 비용보다 사흘을 놓치는 비용이 크다.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553212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박람회는 영업 행사가 아니라 브랜딩 마감이다.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3 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산업이 알려주는 두 숫자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둘째 원칙(양보다 질)과 여섯째 원칙(24시간 후속)의 출처.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5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대상 박람회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고객 평균 전환율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Marketer 2024 B2B Event Marketing Trends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43484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연락 부재로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사장되는 박람회 명단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CEIR · Center for Exhibition Industry Research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4630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7×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안에 첫 연락 시 진행률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(기준: 48h 후 첫 연락)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703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Default · MarkemPa 종합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38912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숫자가 우리에게 강제하는 두 가지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4828032"/>
            <a:ext cx="10872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둘째 원칙 — 200건이라는 목표는 우리가 관리 가능한 범위 안에서 잡는다. 굿즈 카운터형 수집은 사장률 80%에 합류한다.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여섯째 원칙 — 폐회 직후 24시간 안에 두 분기로 자동 라우팅. 본부 → 영업팀. 점주 → saai.store.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5833872"/>
            <a:ext cx="1087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post-event 관계 유지가 잘 굴러가면 전환율 11.5% → 18~25% (Makai Inc.)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Mission과 세 층으로 분리한 이유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가지가 같은 마감에 떨어지지만 수명과 측정 방식이 다르다.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6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박람회를 핑계로 브랜딩을 끝낸다. 브랜딩을 무기로 가맹사업 시장에 첫 깃발을 꽂는다.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9424" y="26334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후 남는 자산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9718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브랜딩의 완성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8368" y="356616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셋을 하나의 약속으로 정돈한다.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박람회가 끝나도 사라지지 않는다.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브랜딩 작업의 출발점.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첫째 원칙이 가리키는 자산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61104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53328" y="26334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박람회용 운영 자산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29718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운영 플레이북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462272" y="356616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브랜드를 부스·데모·R&amp;R·명단 흐름으로 번역.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박람회용으로 만들지만 다음 행사에도 쓴다.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만들면 재사용 가능한 묶음.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62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셋째·넷째 원칙이 디자인 가이드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65008" y="2468880"/>
            <a:ext cx="3621024" cy="3657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2633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57232" y="263347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대상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66176" y="29718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사흘의 결과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266176" y="3566160"/>
            <a:ext cx="3218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10건. 점주 200건.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3건. 후속 점주 30건.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회고를 통해 다음 wave에 피드백.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66176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둘째·여섯째 원칙이 KPI 설계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KPI는 목표(anchor) + 허용 범위(밴드)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안이면 정상 달성. 하단 미만은 회고. 하향은 CEO와 함께.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7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anchor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시점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1325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920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19202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19202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– 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사흘 누계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192024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예약 7~8 + 즉석 2~3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26609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명단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26974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 – 300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697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사흘 누계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269748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가능 범위 안에서 결정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43814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74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 신규 구독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34747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7/24 합의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34747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4747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기간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347472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32일 전 기준선 보고 정함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21538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2519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 도입 검토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08960" y="42519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42519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42519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누계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425196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× 30% 전환 가정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" y="499262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50292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점주 도입 검토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108960" y="50292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30건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80560" y="50292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0" y="5029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누계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0" y="5029200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명단 × 15% (평균 상회)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58064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출처: §4 박람회 사흘 동안 측정하는 다섯 숫자 · §3 외부 벤치마크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현장 — 두 청중, 두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메시지 워크숍 A~D 중 B(본부)와 D(점주)가 채택. A·C는 폐기.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8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B안 · 본부 트랙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가맹본부 사업개발·정보기술 담당자, 의사결정자.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"점주가 매일 머무는 본부 — saai.store가 매일, StoreCare가 매장에서."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미팅 공간에서의 깊은 대화.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5138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본부 미팅 목표 (밴드 5–15)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" y="516636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깔때기 — 사전 예약 7~8건 + 즉석 2~3건. 후속 본부 도입 검토 3건(D+28).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0488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3258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D안 · 점주 트랙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1656" y="164592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가맹점주, 예비 창업자. 편의점 비중이 크다.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91656" y="2194560"/>
            <a:ext cx="36576" cy="1188720"/>
          </a:xfrm>
          <a:prstGeom prst="rect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19456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"매장의 매일을 함께 — saai.store가 알려주고, StoreCare가 챙깁니다."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1656" y="35661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응대 방식 — 구독 유도, 짧은 시연, 명단 수집, 굿즈.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91656" y="4023360"/>
            <a:ext cx="5138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pPr algn="l" indent="0" marL="0">
              <a:buNone/>
            </a:pPr>
            <a:r>
              <a:rPr lang="en-US" sz="18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점주 명단 목표 (밴드 100–300)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391656" y="5166360"/>
            <a:ext cx="5138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깔때기 — 명단 수집 → A·B·C 등급 분류 → 후속 점주 도입 검토 30건(D+28).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4   WORKING BACKWARDS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라인업과 박람회 노출 형태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saai.store는 점주 진입. StoreCare는 양쪽. StoreInsight는 본부 자료. 다음 라인은 본부 메인.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9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3258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노출 형태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9202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saai.store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19202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212140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1214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92024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점주 진입 통로. 뉴스레터 구독 + 굿즈 + 명단 수집.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26609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974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StoreCare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289864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898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89864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898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69748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본부엔 깊은 시연. 점주엔 "본부 도입 시 떨어지는 가치".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43814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74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StoreInsight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26080" y="3675888"/>
            <a:ext cx="640080" cy="329184"/>
          </a:xfrm>
          <a:prstGeom prst="roundRect">
            <a:avLst>
              <a:gd name="adj" fmla="val 11111"/>
            </a:avLst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47472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1B5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0" y="347472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자료 + 부스 한쪽 패널. 점주 응대엔 미등장.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47365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필요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" y="5074920"/>
            <a:ext cx="10872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라인 — 본부 메인 라인업 네 개에 동등 포함. 점주 트랙 미반영.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" y="5486400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제품명·공개 수위·노출 수위는 미정. D-90 발족 회의 25~50' 안건. "동등 포함"은 "최초 공개"와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— 핵심 5 + 영입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발족 시점 9명 + 외부 PR 대행사 1곳. 영입 lock은 5월 27일 (90일 전).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10 / 21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핵심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691640"/>
            <a:ext cx="548640" cy="54864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운영 + 3번 데모 주도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52344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2444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24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9504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리드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9504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— 디자인·메시지 확정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7488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7588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75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84648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/ 4번 분배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42632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42732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273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79792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79792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/ 4번 분배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37776" y="15087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37876" y="1691640"/>
            <a:ext cx="548640" cy="548640"/>
          </a:xfrm>
          <a:prstGeom prst="ellipse">
            <a:avLst/>
          </a:prstGeom>
          <a:solidFill>
            <a:srgbClr val="F9F9FB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378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74936" y="2331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74936" y="2651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2번 — 외주 시공 (6월 초)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5204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필요 · D-90까지 lock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P/E 공동 책임자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리드와 짝. 기술 세부.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19272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83864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명단·CRM 책임자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483864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캡처·태깅·인계 (§2 둘째)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81344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6번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운영 책임자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45936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배치·스크립트·비상.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43416" y="384048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08008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08008" y="425196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후 영업 책임자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208008" y="47091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라우팅 (§2 여섯째)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3949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39496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5</a:t>
            </a:r>
            <a:pPr algn="l" indent="0" marL="0">
              <a:buNone/>
            </a:pPr>
            <a:r>
              <a:rPr lang="en-US" sz="18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+   </a:t>
            </a:r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4</a:t>
            </a:r>
            <a:pPr algn="l" indent="0" marL="0">
              <a:buNone/>
            </a:pPr>
            <a:r>
              <a:rPr lang="en-US" sz="18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=   </a:t>
            </a:r>
            <a:pPr algn="l" indent="0" marL="0">
              <a:buNone/>
            </a:pPr>
            <a:r>
              <a:rPr lang="en-US" sz="2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9명</a:t>
            </a:r>
            <a:pPr algn="l" indent="0" marL="0">
              <a:buNone/>
            </a:pPr>
            <a:r>
              <a:rPr lang="en-US" sz="13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+ PR 대행사 1곳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Charter v0 — TF가 단독으로 결정하는 것 / CEO와 함께 결정하는 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27일 발족 회의에서 v1으로 확정. 5월 26일까지 회사 의사결정 체계와 정합.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TF가 단독으로 결정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운영·실행에 필요한 결정은 TF 안에서 닫힌다.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176272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88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집행 (1,100만원 한도 안에서 자유 재배분)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615184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877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5420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시안 채택·외주 업체·시공 일정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054096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266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9809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카피·톤·디자인 확정 (B/D안 내)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493008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655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4198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시나리오·녹화본 사용 규칙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931920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044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 SKU·수량·인쇄물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370832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434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42976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수집 양식·태깅 규칙 (§2 둘째)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4809744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7823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47365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시간대별 배치·응대 스크립트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5248656"/>
            <a:ext cx="164592" cy="164592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2212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5175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후 본부·점주 깔때기 운영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1188720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1353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CEO와 함께 결정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91656" y="169164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전체에 영향을 주는 결정은 TF 안에서 닫지 않는다.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91656" y="214884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1488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59752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합계 초과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988552" y="2103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한도 넘는 모든 지출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91656" y="274320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27432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59752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브랜드 충돌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988552" y="26974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결과물이 기존 가이드와 부딪힘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91656" y="333756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91656" y="33375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59752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 결정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988552" y="3291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라인 노출. 신제품 첫 공개. 가격.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91656" y="393192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39319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59752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하향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988552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합의된 목표 수치를 낮춤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91656" y="452628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91656" y="45262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59752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발표·제휴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88552" y="4480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제휴사·고객사 사례 공개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91656" y="5120640"/>
            <a:ext cx="713232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91656" y="51206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59752" y="5074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인선 갈등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988552" y="5074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 우선순위와 부딪힘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결정은 한 줄로 기록된다 — §2 다섯째 원칙의 운영 규칙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회의·슬랙·1:1 어디서든 24시간 안에 「결정」 DB 한 줄로.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12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떠 있는 상태.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319272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정리 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56432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결정자·근거·반대를 정리.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181344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8504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잠금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18504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필드 필수 채움.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97112" y="2057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043416" y="128016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0576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0576" y="18288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시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80576" y="2331720"/>
            <a:ext cx="2441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행 생성. 이전 행 잠금 유지.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55412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88620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줄에 채우는 네 필드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" y="4325112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결정자 — 한 명. TF 리드 또는 워크스트림 책임자.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왜 이 결정인가. 데이터·제약·트레이드오프.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반대 의견 — 회의 중 나온 반대를 기록.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 받는 워크스트림 — 0번~7번 중 해당.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0488" y="3703320"/>
            <a:ext cx="5541264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88620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회의체 권위 — 주간 회의 결정은 binding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91656" y="4325112"/>
            <a:ext cx="513892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불참자에 대해서도 사후 lock 인정.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 단독 — 일정 미세 조정. cadence tuning. 외주 컨택.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필수 — 인선. 예산 재배분. 메시지 final. KPI 변경. CEO 합의 항목.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외 결정 — 24h 내 한 줄 기록 + 다음 회의 확인.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5  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 — 16~17주 · 4 마일스톤 · D+28까지 측정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D-0 = 2026-08-25 (행사 1일차). 마일스톤 리뷰는 그 주의 주간 회의를 대체한다.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13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692347"/>
            <a:ext cx="10908792" cy="22860"/>
          </a:xfrm>
          <a:prstGeom prst="rect">
            <a:avLst/>
          </a:prstGeom>
          <a:solidFill>
            <a:srgbClr val="D9DBDD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6888" y="3575304"/>
            <a:ext cx="2424176" cy="256032"/>
          </a:xfrm>
          <a:prstGeom prst="rect">
            <a:avLst/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182880" cy="182880"/>
          </a:xfrm>
          <a:prstGeom prst="ellipse">
            <a:avLst/>
          </a:prstGeom>
          <a:solidFill>
            <a:srgbClr val="787F89"/>
          </a:solidFill>
          <a:ln w="12700">
            <a:solidFill>
              <a:srgbClr val="787F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-137160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CEO 정합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60728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496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9496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928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발족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Charter v1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2816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7056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7056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7016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v1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84904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9144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19144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6/26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9104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mockup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데모 v1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6992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1232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31232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7/24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1192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 결정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(0·1·4 lock)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09080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332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3320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23280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 dry 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go/no-go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21168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5408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55408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5368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시작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33256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6749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67496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8/28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47456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라우팅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245344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9584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79584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59544" y="2331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1차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457432" y="3611880"/>
            <a:ext cx="182880" cy="182880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91672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091672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9/22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71632" y="4389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KPI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집계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66888" y="3383280"/>
            <a:ext cx="242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COEX 박람회 3일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12064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303520"/>
            <a:ext cx="10872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회의 — 수요일 11:00~12:00 (60분). 진척·blocker·결정 기록.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슬랙 — #tf-박람회. 매일 10시까지 자율. blocker는 24h 내 surface.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마일스톤 리뷰 4회 — 그 주의 주간 회의 대체. 각 90~120분.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결과를 망칠 수 있는 세 가지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mitigation의 구체 액션은 📋 Tasks DB의 「Mitigation」 행으로 추적한다.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14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5184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데모의 안정성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 시연 실패의 마이너스 인상이 길게 남는다.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회선과 분리된 자체 네트워크 + 시나리오별 녹화본 백업.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셋째 원칙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7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· 6번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62272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혼재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62272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62272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본부/점주 트랙 분리 실패 → 양쪽 메시지 약화.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62272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62272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공간 분리 + 시간대별 R&amp;R. 시안 D-60 / R&amp;R lock D-32.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62272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넷째 원칙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6176" y="1389888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FDEBEB"/>
          </a:solidFill>
          <a:ln w="12700">
            <a:solidFill>
              <a:srgbClr val="FD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66176" y="13898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9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22992" y="138988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 · 7번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66176" y="17830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사장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66176" y="24688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66176" y="2788920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평균 80% 사장 (CEIR). 후속 연락 부재가 원인.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66176" y="39776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4297680"/>
            <a:ext cx="32186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5번·7번 D-90까지 영입. 폐회 후 24h 자동 라우팅.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66176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둘째·여섯째 원칙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— 합계 800만~1,100만원의 소규모 운영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간 자유 재배분. 합계 한도 초과만 CEO와 함께.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15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예산 밴드 (단위: 만원)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84448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9452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513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4456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09460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514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84464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0144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59468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5148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34472" y="1874520"/>
            <a:ext cx="4572" cy="2834640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참가비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09460" y="1965960"/>
            <a:ext cx="45720" cy="256032"/>
          </a:xfrm>
          <a:prstGeom prst="roundRect">
            <a:avLst>
              <a:gd name="adj" fmla="val 40000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0900" y="19110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2404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시공 (조립식)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34456" y="2496312"/>
            <a:ext cx="3525012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5188" y="2441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200–500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2935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가구·전기·모니터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71950" y="3026664"/>
            <a:ext cx="1175004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2674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9452" y="3557016"/>
            <a:ext cx="4700016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5188" y="35021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100–500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인쇄물 (배너·리플렛·QR)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71950" y="4087368"/>
            <a:ext cx="1175004" cy="256032"/>
          </a:xfrm>
          <a:prstGeom prst="roundRect">
            <a:avLst>
              <a:gd name="adj" fmla="val 7143"/>
            </a:avLst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2674" y="4032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50–150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 </a:t>
            </a:r>
            <a:pPr algn="l" indent="0" marL="0">
              <a:buNone/>
            </a:pPr>
            <a:r>
              <a:rPr lang="en-US" sz="32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 – 1,100</a:t>
            </a:r>
            <a:pPr algn="l" indent="0" marL="0">
              <a:buNone/>
            </a:pPr>
            <a:r>
              <a:rPr lang="en-US" sz="16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만원</a:t>
            </a:r>
            <a:pPr algn="l" indent="0" marL="0">
              <a:buNone/>
            </a:pPr>
            <a:r>
              <a:rPr lang="en-US" sz="13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· §2 첫째 원칙에 따라 자산에 인력 비중 우선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6   RISKS · BUDGET · 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측정은 세 시점에 나누어 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집계와 정성 회고로 다음 wave의 우선순위를 정한다.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16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집계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D+0 ~ D+3 (8/25 ~ 8/28)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수 · 점주 명단 수.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880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1546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 · TF 리드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03320"/>
            <a:ext cx="3218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명단 캡처 + 미팅 카운트.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D+3 폐회 직후 24h 라우팅 마감.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→ 영업팀. 점주 → saai.store.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(9/3)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62272" y="214884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결과 + 정성 회고 + 운영 회고.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62272" y="2880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31546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TF + 필요 시 CEO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2272" y="3703320"/>
            <a:ext cx="3218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결과를 허용 범위와 비교.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정성 회고로 자산 가치 + 다음 wave 우선순위 정리.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13898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집계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17373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D+28 (9/22)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66176" y="2148840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본부·점주 도입 검토 의향.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66176" y="288036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66176" y="315468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7번 · 영업팀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3703320"/>
            <a:ext cx="3218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3건 · 점주 30건 목표 검증.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하단 미만은 정성 회고 대상.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하향 결정은 CEO와 함께.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7   TERMINATION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TF는 언제 사라지나 — 네 가지 종료 조건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가지가 모두 충족되면 해산. 예상 종료: 9월 10일 ~ 9월 17일.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17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7340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734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D+7 (9/3) 회고 회의 완료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결과 · 정성 회고 · 운영 회고.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9412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941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56432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운영 이관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→ 영업팀. 점주 → saai.store.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1484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148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18504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출발 문서 전달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18504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자산 인계.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43416" y="1188720"/>
            <a:ext cx="271576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3556" y="1417320"/>
            <a:ext cx="475488" cy="475488"/>
          </a:xfrm>
          <a:prstGeom prst="ellipse">
            <a:avLst/>
          </a:prstGeom>
          <a:solidFill>
            <a:srgbClr val="376AE2"/>
          </a:solidFill>
          <a:ln w="12700">
            <a:solidFill>
              <a:srgbClr val="376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355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80576" y="205740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회고 문서 발행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0576" y="26974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 마지막 섹션으로 추가.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F7F9FD"/>
          </a:solidFill>
          <a:ln w="12700">
            <a:solidFill>
              <a:srgbClr val="EBF0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576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폐회 1주 후 손에 있어야 하는 네 가지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0690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통합된 마스터 디자인 시스템 + 제품군 메시지 + 부스 운영 방법.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A·B·C 등급으로 분류된 본부·점주 명단. 영업팀·saai.store 라우팅 완료.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49834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다음 단계 브랜딩 작업의 출발 문서 초안.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4406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다음 행사 목표 수치를 다시 정할 때 쓸 정성 회고.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전략·정당화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 왜 지금 / Q2 ROI / Q3 anchor 산출 근거.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18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주력 고객을 잘 다지고 있는데 가맹사업 시장에 왜 굳이 지금?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9,960개가 모이는 기회는 1년에 한 번.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풀은 정체기 회복 신호 (+13.2%).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제품은 점주·본부 양쪽에 접점.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박람회는 영업 행사가 아니라 브랜딩 마감.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계산은? 1,100만원의 정당화 근거는?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회수 — 본부 3건 + 점주 30건 (D+28).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회수 — 박람회 후 남는 자산.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작업을 무에서 시작하지 않는다.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§2 첫째 원칙이 이 점을 명시.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미팅 10건 목표는 어떻게 정했나?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예약 7~8 + 즉석 2~3 추정치.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밴드 5~15 (±50%).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5건 미만 — 회고 대상.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D-32에 재검토 가능. 하향은 CEO와 함께.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실행 가능성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다음 라인 노출 시기 / Q5 영입 4명 가능성 / Q6 명단 80% 사장 대비.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19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라인을 본부 메인에 동등하게 노출하는 게 너무 이르지 않나?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전체 결정 — CEO와 함께.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동등 포함은 결정됨.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제품명·공개 수위·노출 수위는 미정.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"동등 포함" ≠ "최초 공개".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1104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D-90까지 네 명 영입 가능한 근거는?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 — 사내 부분 배치 가능.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5번·6번·7번 — 계약직·프리랜서 가능.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5번·7번 못 채우면 KPI 하향으로 직결.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자리 우선 처리.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188720"/>
            <a:ext cx="3621024" cy="493776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66176" y="1664208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200건 중 80% 사장된다는데 우리는 어떻게 다른가?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2743200"/>
            <a:ext cx="321868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명단 받는 즉시 A·B·C 분류 (5번).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폐회 후 24h 자동 라우팅 (7번).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→ 영업팀. 점주 → saai.store.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진행률은 48h 대비 7배.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§ 8   FAQ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— 전술·인계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 부스 규모 / Q8 외주 / Q9 다음 단계 독립성 / Q10 박람회 후 모습.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20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6459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소규모 부스면 옆 큰 부스에 묻히지 않나?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크기로 경쟁하지 않는다.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 명확함과 운영 질로 경쟁한다.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 분리·데모 안정·24h 후속 — 크기와 무관.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0488" y="11887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353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16459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2번(부스 시공)을 왜 외주로?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21488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내부에 행사·현장 노하우 없음.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시공·자재·전기·인허가가 운영사 채널 관리 요구.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인터페이스(인터페이스 담당자) 비용 &lt; 내부 학습 비용.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679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41605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작업이 박람회 결과와 무관하게 진행되는 게 맞나?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6634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맞다. 박람회 KPI와 독립.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자산은 75일 전에 이미 확정 상태.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수치는 메시지·타깃 우선순위에 입력.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70332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8679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91656" y="41605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박람회가 끝났을 때 우리는 어떤 모습?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1656" y="4663440"/>
            <a:ext cx="5138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통합 자산 (디자인·메시지·운영).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A·B·C 분류 명단 + 라우팅 완료.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다음 단계 출발 문서 초안.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다음 행사 목표 재조정 근거.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— D-90 발족 회의에서 lock해야 하는 항목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페이지가 회고 문서의 출발점이 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6336792"/>
            <a:ext cx="11274552" cy="4572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55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박람회 TF 6-Pager · 2026-05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6355080"/>
            <a:ext cx="3044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7F8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21 / 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1127455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B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65F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1755648"/>
            <a:ext cx="10908792" cy="10973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 / 5번 / 6번 / 7번 책임자 영입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D-90 발족 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2368296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 + CEO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4048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Charter v0 → v1 lock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404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D-91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289864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9352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TF 리드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935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라인 제품명·공개 수위·노출 수위 확정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발족 회의 25~50'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3429000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리드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34655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0번 visual system v1 시연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4655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D-75 (6/11)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3959352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1·2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37560" y="39959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 mockup + 데모 시나리오 v1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995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D-60 (6/26)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489704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대행사 contracting + 2번 킥오프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" y="5020056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056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5번 책임자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50566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A·B·C 분류 규칙 + CRM 태깅 정의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0" y="5056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D-32 (7/24)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" y="5550408"/>
            <a:ext cx="10908792" cy="7315"/>
          </a:xfrm>
          <a:prstGeom prst="rect">
            <a:avLst/>
          </a:prstGeom>
          <a:solidFill>
            <a:srgbClr val="E9E9EA"/>
          </a:solidFill>
          <a:ln w="12700">
            <a:solidFill>
              <a:srgbClr val="E9E9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5869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8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7번 책임자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55869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 라우팅 자동화 셋업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0" y="5586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6A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 (8/18)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박람회 TF 6-Pager v5</dc:title>
  <dc:subject>PptxGenJS Presentation</dc:subject>
  <dc:creator>SAAI</dc:creator>
  <cp:lastModifiedBy>SAAI</cp:lastModifiedBy>
  <cp:revision>1</cp:revision>
  <dcterms:created xsi:type="dcterms:W3CDTF">2026-05-11T11:57:00Z</dcterms:created>
  <dcterms:modified xsi:type="dcterms:W3CDTF">2026-05-11T11:57:00Z</dcterms:modified>
</cp:coreProperties>
</file>